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20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 Utkarsh Vashistha" userId="99cd10bc0c6fb414" providerId="LiveId" clId="{2379025F-BD0A-4FAC-85D2-4876D21813E1}"/>
    <pc:docChg chg="undo custSel modSld modMainMaster modShowInfo">
      <pc:chgData name="Er Utkarsh Vashistha" userId="99cd10bc0c6fb414" providerId="LiveId" clId="{2379025F-BD0A-4FAC-85D2-4876D21813E1}" dt="2026-10-01T10:31:37.973" v="103" actId="6549"/>
      <pc:docMkLst>
        <pc:docMk/>
      </pc:docMkLst>
      <pc:sldChg chg="modSp mod modTransition">
        <pc:chgData name="Er Utkarsh Vashistha" userId="99cd10bc0c6fb414" providerId="LiveId" clId="{2379025F-BD0A-4FAC-85D2-4876D21813E1}" dt="2026-10-01T10:31:16.185" v="102" actId="255"/>
        <pc:sldMkLst>
          <pc:docMk/>
          <pc:sldMk cId="0" sldId="256"/>
        </pc:sldMkLst>
        <pc:spChg chg="mod">
          <ac:chgData name="Er Utkarsh Vashistha" userId="99cd10bc0c6fb414" providerId="LiveId" clId="{2379025F-BD0A-4FAC-85D2-4876D21813E1}" dt="2026-10-01T10:31:16.185" v="102" actId="255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Er Utkarsh Vashistha" userId="99cd10bc0c6fb414" providerId="LiveId" clId="{2379025F-BD0A-4FAC-85D2-4876D21813E1}" dt="2026-10-01T10:31:37.973" v="103" actId="6549"/>
        <pc:sldMkLst>
          <pc:docMk/>
          <pc:sldMk cId="831227711" sldId="269"/>
        </pc:sldMkLst>
        <pc:spChg chg="mod">
          <ac:chgData name="Er Utkarsh Vashistha" userId="99cd10bc0c6fb414" providerId="LiveId" clId="{2379025F-BD0A-4FAC-85D2-4876D21813E1}" dt="2026-10-01T10:31:37.973" v="103" actId="6549"/>
          <ac:spMkLst>
            <pc:docMk/>
            <pc:sldMk cId="831227711" sldId="269"/>
            <ac:spMk id="15" creationId="{9659B151-70E9-6F13-5265-DFE20DB7B83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FC007-A26B-4D52-AEDF-F819D91F3B15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C086D-0AE0-43B8-95E6-C7F430879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38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C086D-0AE0-43B8-95E6-C7F43087989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660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3.png"/><Relationship Id="rId7" Type="http://schemas.openxmlformats.org/officeDocument/2006/relationships/image" Target="../media/image6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809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24" y="4261394"/>
            <a:ext cx="10287000" cy="19132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4325" y="319826"/>
            <a:ext cx="10801350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4484"/>
              </a:lnSpc>
            </a:pPr>
            <a:r>
              <a:rPr lang="en-IN" sz="4000" b="1" dirty="0">
                <a:solidFill>
                  <a:srgbClr val="DCB12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INSURANCE </a:t>
            </a:r>
            <a:r>
              <a:rPr lang="en-IN" sz="4000" b="1">
                <a:solidFill>
                  <a:srgbClr val="DCB12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ANALYTICS PROJECT [P1358]</a:t>
            </a:r>
            <a:endParaRPr sz="3900" b="1" i="0" u="none" dirty="0">
              <a:solidFill>
                <a:srgbClr val="FFFFF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4324" y="1216733"/>
            <a:ext cx="11100927" cy="606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75"/>
              </a:lnSpc>
            </a:pPr>
            <a:r>
              <a:rPr lang="en-US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Executive Dashboard &amp; Business Intelligence Project</a:t>
            </a:r>
          </a:p>
          <a:p>
            <a:pPr algn="l">
              <a:lnSpc>
                <a:spcPts val="2475"/>
              </a:lnSpc>
            </a:pPr>
            <a:endParaRPr sz="1650" b="0" i="0" u="none" dirty="0">
              <a:solidFill>
                <a:srgbClr val="94A3B8"/>
              </a:solidFill>
              <a:latin typeface="Lat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4325" y="4380458"/>
            <a:ext cx="2238375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1" i="0" u="none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Prepared </a:t>
            </a:r>
            <a:r>
              <a:rPr lang="en-IN" b="1" i="0" u="none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By</a:t>
            </a:r>
          </a:p>
          <a:p>
            <a:r>
              <a:rPr lang="en-US" sz="1400" b="1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Utkarsh Vasistha</a:t>
            </a:r>
          </a:p>
          <a:p>
            <a:endParaRPr b="1" i="0" u="none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38450" y="4380458"/>
            <a:ext cx="3100234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Time Period </a:t>
            </a:r>
            <a:endParaRPr lang="en-IN" b="1" i="0" u="none" dirty="0">
              <a:solidFill>
                <a:srgbClr val="FFC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l"/>
            <a:r>
              <a:rPr b="1" i="0" u="none" dirty="0">
                <a:solidFill>
                  <a:srgbClr val="F1F5F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2019 - 2020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1974" y="4454812"/>
            <a:ext cx="448351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Sales Scope </a:t>
            </a:r>
            <a:endParaRPr lang="en-IN" b="1" i="0" u="none" dirty="0">
              <a:solidFill>
                <a:srgbClr val="FFC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l"/>
            <a:r>
              <a:rPr b="1" i="0" u="none" dirty="0">
                <a:solidFill>
                  <a:srgbClr val="F1F5F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Cross-Sell, New Business &amp; Renewals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8B6530-CCE5-F777-D966-44316443D608}"/>
              </a:ext>
            </a:extLst>
          </p:cNvPr>
          <p:cNvSpPr txBox="1"/>
          <p:nvPr/>
        </p:nvSpPr>
        <p:spPr>
          <a:xfrm>
            <a:off x="314324" y="1760173"/>
            <a:ext cx="685800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E2E9F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 cross-platform analytics solution developed across
Excel, Power BI</a:t>
            </a:r>
            <a:r>
              <a:rPr lang="en-US" b="1" dirty="0">
                <a:solidFill>
                  <a:srgbClr val="E2E9F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b="1" dirty="0">
                <a:solidFill>
                  <a:srgbClr val="E2E9F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Tableau </a:t>
            </a:r>
            <a:r>
              <a:rPr lang="en-US" b="1" dirty="0">
                <a:solidFill>
                  <a:srgbClr val="E2E9F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and My SQL </a:t>
            </a:r>
            <a:r>
              <a:rPr b="1" dirty="0">
                <a:solidFill>
                  <a:srgbClr val="E2E9F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 monitor insurance performance</a:t>
            </a:r>
            <a:r>
              <a:rPr sz="1700" b="0" dirty="0">
                <a:solidFill>
                  <a:srgbClr val="E2E9F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FA553A-B8E7-5908-E478-1CF1DDBDC741}"/>
              </a:ext>
            </a:extLst>
          </p:cNvPr>
          <p:cNvSpPr txBox="1"/>
          <p:nvPr/>
        </p:nvSpPr>
        <p:spPr>
          <a:xfrm>
            <a:off x="314325" y="3008382"/>
            <a:ext cx="6174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u="none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Prepared For</a:t>
            </a:r>
            <a:r>
              <a:rPr lang="en-US" i="0" u="none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i="0" u="none" dirty="0">
                <a:solidFill>
                  <a:srgbClr val="F1F5F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Management &amp; Sales Leaders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57400"/>
            <a:ext cx="5353050" cy="3629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057400"/>
            <a:ext cx="5353050" cy="3629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90625" y="2371725"/>
            <a:ext cx="4640580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 dirty="0">
                <a:solidFill>
                  <a:srgbClr val="1E3A8A"/>
                </a:solidFill>
                <a:latin typeface="Poppins SemiBold"/>
              </a:rPr>
              <a:t>What We Want to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86575" y="2371725"/>
            <a:ext cx="4640580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0D9488"/>
                </a:solidFill>
                <a:latin typeface="Poppins SemiBold"/>
              </a:rPr>
              <a:t>Business Value Impact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424112"/>
            <a:ext cx="209550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52525" y="2895600"/>
            <a:ext cx="44577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475569"/>
                </a:solidFill>
                <a:latin typeface="Lato"/>
              </a:rPr>
              <a:t>Sales Targets:</a:t>
            </a:r>
            <a:r>
              <a:rPr sz="1275" b="0" i="0" u="none" dirty="0">
                <a:solidFill>
                  <a:srgbClr val="475569"/>
                </a:solidFill>
                <a:latin typeface="Lato"/>
              </a:rPr>
              <a:t> Monitor goal attainment for new clients, cross-selling, and renewals.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514725"/>
            <a:ext cx="44577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Lato"/>
              </a:rPr>
              <a:t>Active Deals Pipeline:</a:t>
            </a:r>
            <a:r>
              <a:rPr sz="1275" b="0" i="0" u="none">
                <a:solidFill>
                  <a:srgbClr val="475569"/>
                </a:solidFill>
                <a:latin typeface="Lato"/>
              </a:rPr>
              <a:t> Track open negotiations and potential revenue volume.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4133850"/>
            <a:ext cx="44577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Lato"/>
              </a:rPr>
              <a:t>Team Activity:</a:t>
            </a:r>
            <a:r>
              <a:rPr sz="1275" b="0" i="0" u="none">
                <a:solidFill>
                  <a:srgbClr val="475569"/>
                </a:solidFill>
                <a:latin typeface="Lato"/>
              </a:rPr>
              <a:t> Benchmark client meetings held vs. invoices generated per rep.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4752975"/>
            <a:ext cx="44577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Lato"/>
              </a:rPr>
              <a:t>Product Demand:</a:t>
            </a:r>
            <a:r>
              <a:rPr sz="1275" b="0" i="0" u="none">
                <a:solidFill>
                  <a:srgbClr val="475569"/>
                </a:solidFill>
                <a:latin typeface="Lato"/>
              </a:rPr>
              <a:t> Identify top performing coverage types (Health, Fire, Shipping).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2424112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48475" y="2895600"/>
            <a:ext cx="44577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Lato"/>
              </a:rPr>
              <a:t>Faster Cash Collection:</a:t>
            </a:r>
            <a:r>
              <a:rPr sz="1275" b="0" i="0" u="none">
                <a:solidFill>
                  <a:srgbClr val="475569"/>
                </a:solidFill>
                <a:latin typeface="Lato"/>
              </a:rPr>
              <a:t> Accelerate billing once agreements are signed.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8475" y="3514725"/>
            <a:ext cx="44577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Lato"/>
              </a:rPr>
              <a:t>Unstick Bottlenecks:</a:t>
            </a:r>
            <a:r>
              <a:rPr sz="1275" b="0" i="0" u="none">
                <a:solidFill>
                  <a:srgbClr val="475569"/>
                </a:solidFill>
                <a:latin typeface="Lato"/>
              </a:rPr>
              <a:t> Mobilize 44 pending opportunities lagging in early stages.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8475" y="4133850"/>
            <a:ext cx="44577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Lato"/>
              </a:rPr>
              <a:t>Resource Optimization:</a:t>
            </a:r>
            <a:r>
              <a:rPr sz="1275" b="0" i="0" u="none">
                <a:solidFill>
                  <a:srgbClr val="475569"/>
                </a:solidFill>
                <a:latin typeface="Lato"/>
              </a:rPr>
              <a:t> Direct top talent to high-value enterprise accounts.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8475" y="4752975"/>
            <a:ext cx="44577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Lato"/>
              </a:rPr>
              <a:t>Strategic Focus:</a:t>
            </a:r>
            <a:r>
              <a:rPr sz="1275" b="0" i="0" u="none">
                <a:solidFill>
                  <a:srgbClr val="475569"/>
                </a:solidFill>
                <a:latin typeface="Lato"/>
              </a:rPr>
              <a:t> Realign team incentives towards high-margin product lines.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oppins"/>
              </a:rPr>
              <a:t>Why This Dashboard Matters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25" y="2914650"/>
            <a:ext cx="1714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25" y="3533775"/>
            <a:ext cx="171450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25" y="4152900"/>
            <a:ext cx="171450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25" y="4772025"/>
            <a:ext cx="171450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2914650"/>
            <a:ext cx="171450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3533775"/>
            <a:ext cx="171450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4152900"/>
            <a:ext cx="171450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4772025"/>
            <a:ext cx="171450" cy="180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758" y="161925"/>
            <a:ext cx="6907775" cy="1400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476250"/>
            <a:ext cx="5400675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oppins"/>
              </a:rPr>
              <a:t>Dashboard Overview &amp;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6250" y="1562100"/>
            <a:ext cx="5143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6249" y="1738566"/>
            <a:ext cx="11528937" cy="4721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47556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dashboard consolidates critical operational metrics into </a:t>
            </a:r>
            <a:r>
              <a:rPr sz="1275" b="1" i="0" u="none" dirty="0">
                <a:solidFill>
                  <a:srgbClr val="47556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 key sections</a:t>
            </a:r>
            <a:r>
              <a:rPr sz="1275" b="0" i="0" u="none" dirty="0">
                <a:solidFill>
                  <a:srgbClr val="47556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Top Scorecards, Sales Types, Pipeline Stages, Team Effort, and Interactive Filters.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3975" y="556720"/>
            <a:ext cx="4960620" cy="215444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/>
            <a:r>
              <a:rPr lang="en-IN" sz="1400" b="1" i="0" u="none" dirty="0">
                <a:solidFill>
                  <a:srgbClr val="1E40A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1400" b="1" i="0" u="none" dirty="0">
                <a:solidFill>
                  <a:srgbClr val="1E40A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Core Strategic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0983" y="894858"/>
            <a:ext cx="6465324" cy="4470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1E3A8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Our client retention is exceptional (</a:t>
            </a:r>
            <a:r>
              <a:rPr sz="1200" b="1" i="0" u="none" dirty="0">
                <a:solidFill>
                  <a:srgbClr val="1E3A8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Renewals exceeded target by 50%</a:t>
            </a:r>
            <a:r>
              <a:rPr sz="1200" b="0" i="0" u="none" dirty="0">
                <a:solidFill>
                  <a:srgbClr val="1E3A8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), but new client acquisition and cross-selling are severely lagging behind targets.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141" y="576336"/>
            <a:ext cx="133350" cy="171450"/>
          </a:xfrm>
          <a:prstGeom prst="rect">
            <a:avLst/>
          </a:prstGeom>
        </p:spPr>
      </p:pic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7385CE47-9EC4-37F1-D106-838B1B437EA6}"/>
              </a:ext>
            </a:extLst>
          </p:cNvPr>
          <p:cNvSpPr/>
          <p:nvPr/>
        </p:nvSpPr>
        <p:spPr>
          <a:xfrm>
            <a:off x="257114" y="2783453"/>
            <a:ext cx="3852770" cy="23317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2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Excel Project Final Dashboard Insurance Analytics_Utkarsh Vashistha(2).png">
            <a:extLst>
              <a:ext uri="{FF2B5EF4-FFF2-40B4-BE49-F238E27FC236}">
                <a16:creationId xmlns:a16="http://schemas.microsoft.com/office/drawing/2014/main" id="{22158EDB-C891-ACDB-C1B9-7E84F24270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699" y="3158062"/>
            <a:ext cx="3657600" cy="1827230"/>
          </a:xfrm>
          <a:prstGeom prst="rect">
            <a:avLst/>
          </a:prstGeom>
        </p:spPr>
      </p:pic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23E9348E-40EE-C268-FF5E-148B0E2470DF}"/>
              </a:ext>
            </a:extLst>
          </p:cNvPr>
          <p:cNvSpPr/>
          <p:nvPr/>
        </p:nvSpPr>
        <p:spPr>
          <a:xfrm>
            <a:off x="4270248" y="2783453"/>
            <a:ext cx="3811870" cy="23317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2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CA14EDB1-CCE0-2C37-57B4-98B2262FCB3F}"/>
              </a:ext>
            </a:extLst>
          </p:cNvPr>
          <p:cNvSpPr/>
          <p:nvPr/>
        </p:nvSpPr>
        <p:spPr>
          <a:xfrm>
            <a:off x="8242482" y="2783453"/>
            <a:ext cx="3811870" cy="23317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2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Power BI insurance project dashboard presented.png">
            <a:extLst>
              <a:ext uri="{FF2B5EF4-FFF2-40B4-BE49-F238E27FC236}">
                <a16:creationId xmlns:a16="http://schemas.microsoft.com/office/drawing/2014/main" id="{74AC1FE7-0345-8215-6F6D-5ADCA4A06E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6998" y="3079555"/>
            <a:ext cx="3646292" cy="190573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9459888-87C9-20AD-E16A-8E2CF1E93F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7585" y="3079555"/>
            <a:ext cx="3657601" cy="182801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16E70DE-A7D6-E323-69DC-832B48931163}"/>
              </a:ext>
            </a:extLst>
          </p:cNvPr>
          <p:cNvSpPr txBox="1"/>
          <p:nvPr/>
        </p:nvSpPr>
        <p:spPr>
          <a:xfrm>
            <a:off x="89965" y="240058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rgbClr val="3D9B60"/>
                </a:solidFill>
                <a:latin typeface="Aptos"/>
              </a:rPr>
              <a:t>EXCEL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492096-0A37-2AD1-D5F1-D8BD6463235A}"/>
              </a:ext>
            </a:extLst>
          </p:cNvPr>
          <p:cNvSpPr txBox="1"/>
          <p:nvPr/>
        </p:nvSpPr>
        <p:spPr>
          <a:xfrm>
            <a:off x="4058695" y="240058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rgbClr val="2B69AD"/>
                </a:solidFill>
                <a:latin typeface="Aptos"/>
              </a:rPr>
              <a:t>POWER BI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CCEDF5-89A0-29DF-030E-3FA1DEFDCDD1}"/>
              </a:ext>
            </a:extLst>
          </p:cNvPr>
          <p:cNvSpPr txBox="1"/>
          <p:nvPr/>
        </p:nvSpPr>
        <p:spPr>
          <a:xfrm>
            <a:off x="8155795" y="243868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rgbClr val="775BAA"/>
                </a:solidFill>
                <a:latin typeface="Aptos"/>
              </a:rPr>
              <a:t>TABLEAU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09787"/>
            <a:ext cx="3530500" cy="1543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600" y="2109787"/>
            <a:ext cx="3530649" cy="1543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850" y="2109787"/>
            <a:ext cx="3530500" cy="1543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76687"/>
            <a:ext cx="5353050" cy="1657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7450" y="3976687"/>
            <a:ext cx="5353050" cy="1657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725" y="2338387"/>
            <a:ext cx="30256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16A34A"/>
                </a:solidFill>
                <a:latin typeface="Poppins"/>
              </a:rPr>
              <a:t>150%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871787"/>
            <a:ext cx="30256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Lato"/>
              </a:rPr>
              <a:t>RENEWALS CLOSED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100387"/>
            <a:ext cx="302567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Lato"/>
              </a:rPr>
              <a:t>50% over total goal budget! Strong existing client loyalty.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825" y="2338387"/>
            <a:ext cx="30258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DC2626"/>
                </a:solidFill>
                <a:latin typeface="Poppins"/>
              </a:rPr>
              <a:t>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6825" y="2871787"/>
            <a:ext cx="3025824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Lato"/>
              </a:rPr>
              <a:t>NEW CLIENT CASH BILLED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6825" y="3100387"/>
            <a:ext cx="3025824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Lato"/>
              </a:rPr>
              <a:t>Extreme gap: Signed accounts are not being invoiced.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075" y="2338387"/>
            <a:ext cx="30256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D97706"/>
                </a:solidFill>
                <a:latin typeface="Poppins"/>
              </a:rPr>
              <a:t>14%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075" y="2871787"/>
            <a:ext cx="30256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Lato"/>
              </a:rPr>
              <a:t>CROSS-SELL CASH BILLED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075" y="3100387"/>
            <a:ext cx="30256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Lato"/>
              </a:rPr>
              <a:t>Minimal expansion within our existing client base.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4291012"/>
            <a:ext cx="4960620" cy="31432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66534"/>
                </a:solidFill>
                <a:latin typeface="Poppins SemiBold"/>
              </a:rPr>
              <a:t>The Retention Success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4719637"/>
            <a:ext cx="47244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Lato"/>
              </a:rPr>
              <a:t>Clients trust our services and renew consistently. Renewal closed volume hit </a:t>
            </a:r>
            <a:r>
              <a:rPr sz="1275" b="1" i="0" u="none">
                <a:solidFill>
                  <a:srgbClr val="475569"/>
                </a:solidFill>
                <a:latin typeface="Lato"/>
              </a:rPr>
              <a:t>150% of budget</a:t>
            </a:r>
            <a:r>
              <a:rPr sz="1275" b="0" i="0" u="none">
                <a:solidFill>
                  <a:srgbClr val="475569"/>
                </a:solidFill>
                <a:latin typeface="Lato"/>
              </a:rPr>
              <a:t> ($18.5M vs $12.3M target).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1775" y="4291012"/>
            <a:ext cx="4960620" cy="31432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991B1B"/>
                </a:solidFill>
                <a:latin typeface="Poppins SemiBold"/>
              </a:rPr>
              <a:t>The Billing Disconnect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1775" y="4719637"/>
            <a:ext cx="47244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Lato"/>
              </a:rPr>
              <a:t>New business deals are signed ($3.4M closed), but almost zero cash ($600K) has been billed to date due to administrative delays.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825" y="4338637"/>
            <a:ext cx="209550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1775" y="4338637"/>
            <a:ext cx="209550" cy="209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oppins"/>
              </a:rPr>
              <a:t>Performance Against Target Goals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28850"/>
            <a:ext cx="5353050" cy="1238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062162"/>
            <a:ext cx="535305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2428875"/>
            <a:ext cx="5200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Pipeline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2809875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Lato"/>
              </a:rPr>
              <a:t>Total Potential Opportunities:</a:t>
            </a:r>
            <a:r>
              <a:rPr sz="1200" b="0" i="0" u="none">
                <a:solidFill>
                  <a:srgbClr val="475569"/>
                </a:solidFill>
                <a:latin typeface="Lato"/>
              </a:rPr>
              <a:t> 49 Deals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3038475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Lato"/>
              </a:rPr>
              <a:t>Deals Open/In Progress:</a:t>
            </a:r>
            <a:r>
              <a:rPr sz="1200" b="0" i="0" u="none">
                <a:solidFill>
                  <a:srgbClr val="475569"/>
                </a:solidFill>
                <a:latin typeface="Lato"/>
              </a:rPr>
              <a:t> 44 Deals (90% Unclosed)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657600"/>
            <a:ext cx="50863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Lato"/>
              </a:rPr>
              <a:t>Stage 1 (Checking Details):</a:t>
            </a:r>
            <a:r>
              <a:rPr sz="1275" b="0" i="0" u="none">
                <a:solidFill>
                  <a:srgbClr val="475569"/>
                </a:solidFill>
                <a:latin typeface="Lato"/>
              </a:rPr>
              <a:t> $6.0M (85.7% of total revenue) sits stalled in the earliest qualification phase.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276725"/>
            <a:ext cx="50863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Lato"/>
              </a:rPr>
              <a:t>Stage 2 (Final Talks):</a:t>
            </a:r>
            <a:r>
              <a:rPr sz="1275" b="0" i="0" u="none">
                <a:solidFill>
                  <a:srgbClr val="475569"/>
                </a:solidFill>
                <a:latin typeface="Lato"/>
              </a:rPr>
              <a:t> Only $1.0M (14.3%) has progressed to final negotiations.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895850"/>
            <a:ext cx="50863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Lato"/>
              </a:rPr>
              <a:t>Core Issue:</a:t>
            </a:r>
            <a:r>
              <a:rPr sz="1275" b="0" i="0" u="none">
                <a:solidFill>
                  <a:srgbClr val="475569"/>
                </a:solidFill>
                <a:latin typeface="Lato"/>
              </a:rPr>
              <a:t> Sales reps are not driving fast momentum after initial discovery calls.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50" y="2062162"/>
            <a:ext cx="5353050" cy="3619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Pipeline Stagnation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676650"/>
            <a:ext cx="17145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95775"/>
            <a:ext cx="1714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914900"/>
            <a:ext cx="171450" cy="180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1243"/>
            <a:ext cx="11049000" cy="21193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679156"/>
            <a:ext cx="11049000" cy="73342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1025" y="2340768"/>
          <a:ext cx="11029947" cy="21002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5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73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4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35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06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Sales Stream 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Target Budget ($M)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Deals Closed ($M)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Cash Billed ($M)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Variance vs Target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06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Lato"/>
                        </a:rPr>
                        <a:t>Renewals (Existing Clients)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$12.3M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$18.5M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$8.2M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+50% Closed / -33% Billed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06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Lato"/>
                        </a:rPr>
                        <a:t>Cross-Sell (Policy Add-ons)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$20.0M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$13.0M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$3.0M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Short by $17.0M Cash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06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Lato"/>
                        </a:rPr>
                        <a:t>New Business (New Clients)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$19.7M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$3.4M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$0.6M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Severe Underperformance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0100" y="4831556"/>
            <a:ext cx="106299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334155"/>
                </a:solidFill>
                <a:latin typeface="Lato"/>
              </a:rPr>
              <a:t>Key Takeaway:</a:t>
            </a:r>
            <a:r>
              <a:rPr sz="1125" b="0" i="0" u="none">
                <a:solidFill>
                  <a:srgbClr val="334155"/>
                </a:solidFill>
                <a:latin typeface="Lato"/>
              </a:rPr>
              <a:t> Closed agreements total $34.9M, but actual collected/billed revenue is only $11.8M across all lines—leaving an immediate </a:t>
            </a:r>
            <a:r>
              <a:rPr sz="1125" b="1" i="0" u="none">
                <a:solidFill>
                  <a:srgbClr val="334155"/>
                </a:solidFill>
                <a:latin typeface="Lato"/>
              </a:rPr>
              <a:t>$23.1M gap</a:t>
            </a:r>
            <a:r>
              <a:rPr sz="1125" b="0" i="0" u="none">
                <a:solidFill>
                  <a:srgbClr val="334155"/>
                </a:solidFill>
                <a:latin typeface="Lato"/>
              </a:rPr>
              <a:t> in unrealized potential revenue.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1025" y="3359943"/>
            <a:ext cx="25592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140273" y="3359943"/>
            <a:ext cx="21952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5488" y="3359943"/>
            <a:ext cx="20773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12831" y="3359943"/>
            <a:ext cx="18846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297441" y="3359943"/>
            <a:ext cx="23135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3898106"/>
            <a:ext cx="25592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140273" y="3898106"/>
            <a:ext cx="21952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35488" y="3898106"/>
            <a:ext cx="20773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12831" y="3898106"/>
            <a:ext cx="18846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297441" y="3898106"/>
            <a:ext cx="23135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4115" y="2975391"/>
            <a:ext cx="1942981" cy="30359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4116" y="3546910"/>
            <a:ext cx="1530026" cy="280504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4116" y="4036218"/>
            <a:ext cx="1953539" cy="3524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Sales Revenue Breakdown by Type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90762"/>
            <a:ext cx="2590800" cy="3162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900" y="2290762"/>
            <a:ext cx="2590800" cy="3162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290762"/>
            <a:ext cx="2590800" cy="3162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0" y="2290762"/>
            <a:ext cx="2590800" cy="3162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566987"/>
            <a:ext cx="514350" cy="514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725" y="3271837"/>
            <a:ext cx="214026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Employee 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700462"/>
            <a:ext cx="20383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2563EB"/>
                </a:solidFill>
                <a:latin typeface="Lato"/>
              </a:rPr>
              <a:t>#1 Most Popular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019550"/>
            <a:ext cx="203835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Lato"/>
              </a:rPr>
              <a:t>Group health &amp; staff coverage represents our highest corporate demand and primary deal driver.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7125" y="2566987"/>
            <a:ext cx="514350" cy="514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67125" y="3271837"/>
            <a:ext cx="214026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Fire 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7125" y="3700462"/>
            <a:ext cx="20383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D9488"/>
                </a:solidFill>
                <a:latin typeface="Lato"/>
              </a:rPr>
              <a:t>#2 Preferred Choice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7125" y="4019550"/>
            <a:ext cx="203835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Lato"/>
              </a:rPr>
              <a:t>Commercial property and fire risk protection form our steady foundation for corporate accounts.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2566987"/>
            <a:ext cx="514350" cy="514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86525" y="3271837"/>
            <a:ext cx="2140267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Marine &amp;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4014787"/>
            <a:ext cx="20383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F46E5"/>
                </a:solidFill>
                <a:latin typeface="Lato"/>
              </a:rPr>
              <a:t>Steady Volume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4333875"/>
            <a:ext cx="20383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Lato"/>
              </a:rPr>
              <a:t>7 Marine and 6 Engineering deals closed. Reliable medium-ticket business lines.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05925" y="2566987"/>
            <a:ext cx="514350" cy="5143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305925" y="3271837"/>
            <a:ext cx="214026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Specialty Cover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5925" y="3700462"/>
            <a:ext cx="20383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D97706"/>
                </a:solidFill>
                <a:latin typeface="Lato"/>
              </a:rPr>
              <a:t>Growth Opportunity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5925" y="4019550"/>
            <a:ext cx="203835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Lato"/>
              </a:rPr>
              <a:t>Niche offerings like Terrorism insurance are rarely pitched—unlocked market potential.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" y="2709862"/>
            <a:ext cx="228600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0" y="2709862"/>
            <a:ext cx="228600" cy="2286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15112" y="2709862"/>
            <a:ext cx="257175" cy="2286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48800" y="2709862"/>
            <a:ext cx="228600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Insurance Policy Demand &amp; Distribution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528887"/>
            <a:ext cx="5143500" cy="2657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5338762"/>
            <a:ext cx="5143500" cy="514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76250"/>
            <a:ext cx="540067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Top Potential Deals to Close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6250" y="1076325"/>
            <a:ext cx="5143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1890712"/>
            <a:ext cx="51435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Lato"/>
              </a:rPr>
              <a:t>Focusing executive resources on the top 4 pending accounts will yield immediate high-margin returns: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85775" y="2538412"/>
          <a:ext cx="5124449" cy="2638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4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768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Deal Description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Value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Status Stage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68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Fire Insurance Deal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Lato"/>
                        </a:rPr>
                        <a:t>$500,000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Finalizing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68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Commercial Package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Lato"/>
                        </a:rPr>
                        <a:t>$400,000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Negotiation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68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Group Health Plan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Lato"/>
                        </a:rPr>
                        <a:t>$400,000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Checking Info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68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Staff Medical Policy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Lato"/>
                        </a:rPr>
                        <a:t>$350,000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Proposal Sent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9125" y="5481637"/>
            <a:ext cx="4857750" cy="22860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1" i="0" u="none">
                <a:solidFill>
                  <a:srgbClr val="166534"/>
                </a:solidFill>
                <a:latin typeface="Lato"/>
              </a:rPr>
              <a:t>Closing just these top 4 deals yields $1.65 Million instantly!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837" y="5519737"/>
            <a:ext cx="152400" cy="1524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85775" y="3557587"/>
            <a:ext cx="21458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31578" y="3557587"/>
            <a:ext cx="12546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86200" y="3557587"/>
            <a:ext cx="17240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85775" y="4095750"/>
            <a:ext cx="21458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31578" y="4095750"/>
            <a:ext cx="12546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86200" y="4095750"/>
            <a:ext cx="17240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5775" y="4633912"/>
            <a:ext cx="21458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31578" y="4633912"/>
            <a:ext cx="12546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886200" y="4633912"/>
            <a:ext cx="17240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6200" y="3167062"/>
            <a:ext cx="923926" cy="329973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54036" y="3705225"/>
            <a:ext cx="1079914" cy="329973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6200" y="4243387"/>
            <a:ext cx="1143000" cy="314324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86201" y="4781550"/>
            <a:ext cx="1142999" cy="3143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57487"/>
            <a:ext cx="5353050" cy="2657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824162"/>
            <a:ext cx="5353050" cy="2524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328862"/>
            <a:ext cx="5620702" cy="314325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Client Meetings Held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7450" y="2395537"/>
            <a:ext cx="5620702" cy="314325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Invoices (Bills) Created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376487"/>
            <a:ext cx="266700" cy="20955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107431"/>
              </p:ext>
            </p:extLst>
          </p:nvPr>
        </p:nvGraphicFramePr>
        <p:xfrm>
          <a:off x="581025" y="2767013"/>
          <a:ext cx="4986057" cy="2531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1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4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6316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Sales Representative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Meetings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FFFFFF"/>
                          </a:solidFill>
                          <a:latin typeface="Poppins SemiBold"/>
                        </a:rPr>
                        <a:t>Activity Level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316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Abhinav Shivam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316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Vinay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316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Animesh / Ketan / Shivani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4 each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316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Gilbert / Manish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3 each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7450" y="2443162"/>
            <a:ext cx="161925" cy="2095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059963"/>
              </p:ext>
            </p:extLst>
          </p:nvPr>
        </p:nvGraphicFramePr>
        <p:xfrm>
          <a:off x="6069272" y="2780265"/>
          <a:ext cx="5620703" cy="2657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51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0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FFFFFF"/>
                          </a:solidFill>
                          <a:latin typeface="Poppins SemiBold"/>
                        </a:rPr>
                        <a:t>Sales Rep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Bills Sent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Primary Focus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Divy...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58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Mostly Renewals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Vidi...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27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Renewals &amp; New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Animesh / Vinay / Ankur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18 - 20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Mix of Deals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Abhinav / Shlok / Shobhit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8 - 10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Early Stage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81025" y="3786187"/>
            <a:ext cx="24062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87278" y="3786187"/>
            <a:ext cx="12751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62437" y="3786187"/>
            <a:ext cx="16525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324350"/>
            <a:ext cx="24062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987278" y="4324350"/>
            <a:ext cx="12751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62437" y="4324350"/>
            <a:ext cx="16525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4862512"/>
            <a:ext cx="24062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987278" y="4862512"/>
            <a:ext cx="12751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62437" y="4862512"/>
            <a:ext cx="16525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76975" y="3819525"/>
            <a:ext cx="23583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635305" y="3819525"/>
            <a:ext cx="12342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869537" y="3819525"/>
            <a:ext cx="17414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76975" y="4324350"/>
            <a:ext cx="23583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635305" y="4324350"/>
            <a:ext cx="12342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869537" y="4324350"/>
            <a:ext cx="17414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76975" y="4829175"/>
            <a:ext cx="23583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635305" y="4829175"/>
            <a:ext cx="12342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869537" y="4829175"/>
            <a:ext cx="17414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1476" y="3376752"/>
            <a:ext cx="457200" cy="261937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6508" y="3936206"/>
            <a:ext cx="457200" cy="261937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1476" y="4416378"/>
            <a:ext cx="647700" cy="261937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71476" y="4995470"/>
            <a:ext cx="647700" cy="26193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Sales Team Activity vs Billing Output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90762"/>
            <a:ext cx="3530649" cy="3162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290762"/>
            <a:ext cx="3530649" cy="3162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290762"/>
            <a:ext cx="3530649" cy="3162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566987"/>
            <a:ext cx="5143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271837"/>
            <a:ext cx="312710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991B1B"/>
                </a:solidFill>
                <a:latin typeface="Poppins SemiBold"/>
              </a:rPr>
              <a:t>1. Paperwork Bottlenecks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700462"/>
            <a:ext cx="2978199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DC2626"/>
                </a:solidFill>
                <a:latin typeface="Lato"/>
              </a:rPr>
              <a:t>Delayed Invoicing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019550"/>
            <a:ext cx="297819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Lato"/>
              </a:rPr>
              <a:t>We win agreements, but delay sending bills ($18.5M closed renewals vs. only $8.2M actually billed).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566987"/>
            <a:ext cx="514350" cy="514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06974" y="3271837"/>
            <a:ext cx="3127109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854D0E"/>
                </a:solidFill>
                <a:latin typeface="Poppins SemiBold"/>
              </a:rPr>
              <a:t>2. Early Pipeline Stagnation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6974" y="4014787"/>
            <a:ext cx="2978199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D97706"/>
                </a:solidFill>
                <a:latin typeface="Lato"/>
              </a:rPr>
              <a:t>Stalled Discussions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6974" y="4333875"/>
            <a:ext cx="297819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Lato"/>
              </a:rPr>
              <a:t>$6.0M out of $7.0M in prospective sales sits unprogressed in Stage 1 without active rep follow-ups.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566987"/>
            <a:ext cx="514350" cy="514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66224" y="3271837"/>
            <a:ext cx="3127109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730A3"/>
                </a:solidFill>
                <a:latin typeface="Poppins SemiBold"/>
              </a:rPr>
              <a:t>3. Disproportionate Workload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224" y="4014787"/>
            <a:ext cx="2978199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F46E5"/>
                </a:solidFill>
                <a:latin typeface="Lato"/>
              </a:rPr>
              <a:t>Uneven Rep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224" y="4333875"/>
            <a:ext cx="297819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Lato"/>
              </a:rPr>
              <a:t>Divy generated 58 bills single-handedly, while 5 other sales reps combined created under 10 bills.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175" y="2709862"/>
            <a:ext cx="171450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4137" y="2709862"/>
            <a:ext cx="200025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0524" y="2709862"/>
            <a:ext cx="285750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The 3 Main Operational Challenges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3007518"/>
            <a:ext cx="45720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5544" y="3007518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1464" y="3007518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7384" y="3007518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769393"/>
            <a:ext cx="2541240" cy="258603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7419" y="2769393"/>
            <a:ext cx="2541240" cy="258603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35184" y="2818247"/>
            <a:ext cx="2541240" cy="258603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79259" y="2769393"/>
            <a:ext cx="2541240" cy="258603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123950" y="4043362"/>
            <a:ext cx="99441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000" y="3546909"/>
            <a:ext cx="2168239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1E293B"/>
                </a:solidFill>
                <a:latin typeface="Poppins SemiBold"/>
              </a:rPr>
              <a:t>Immediate Billing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377" y="4111266"/>
            <a:ext cx="206499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Lato"/>
              </a:rPr>
              <a:t>Mandate instant billing upon deal agreement to capture the $18.5M in unbilled renewals.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5544" y="3617118"/>
            <a:ext cx="216823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Pipeline Sprint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7389" y="4175559"/>
            <a:ext cx="206499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Lato"/>
              </a:rPr>
              <a:t>Hold weekly reviews to unstick $6M in Stage 1 deals and accelerate follow-ups.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1464" y="3617118"/>
            <a:ext cx="216823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Executive Closing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2768" y="4113263"/>
            <a:ext cx="206499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Lato"/>
              </a:rPr>
              <a:t>Engage senior leadership to co-pitch and close the top 4 enterprise accounts ($1.65M).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17384" y="3617118"/>
            <a:ext cx="2168239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Incentive Alignment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5202" y="4106118"/>
            <a:ext cx="206499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Lato"/>
              </a:rPr>
              <a:t>Align commissions to encourage cross-selling and set minimum 5 client meetings/week.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Strategic Action Plan &amp; Milestones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902E38-527F-02CB-C4C7-1B97CB778010}"/>
              </a:ext>
            </a:extLst>
          </p:cNvPr>
          <p:cNvSpPr txBox="1"/>
          <p:nvPr/>
        </p:nvSpPr>
        <p:spPr>
          <a:xfrm>
            <a:off x="1484671" y="1468153"/>
            <a:ext cx="9222658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sz="3600" b="1" i="0" u="none" dirty="0">
                <a:solidFill>
                  <a:srgbClr val="FFC000"/>
                </a:solidFill>
                <a:latin typeface="Poppins"/>
              </a:rPr>
              <a:t>Unlocking Over $15 Million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56F21D-C4CC-0CD2-F738-162162C82BFC}"/>
              </a:ext>
            </a:extLst>
          </p:cNvPr>
          <p:cNvSpPr/>
          <p:nvPr/>
        </p:nvSpPr>
        <p:spPr>
          <a:xfrm>
            <a:off x="487926" y="2661761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85CE81-3122-CA84-E512-E807CBBCA9FC}"/>
              </a:ext>
            </a:extLst>
          </p:cNvPr>
          <p:cNvSpPr/>
          <p:nvPr/>
        </p:nvSpPr>
        <p:spPr>
          <a:xfrm>
            <a:off x="487926" y="984634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CF7BA5-3AFD-4B25-8CE6-A4B653E99170}"/>
              </a:ext>
            </a:extLst>
          </p:cNvPr>
          <p:cNvSpPr txBox="1"/>
          <p:nvPr/>
        </p:nvSpPr>
        <p:spPr>
          <a:xfrm>
            <a:off x="898423" y="3429000"/>
            <a:ext cx="10638503" cy="1038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75"/>
              </a:lnSpc>
            </a:pPr>
            <a:r>
              <a:rPr lang="en-US" b="1" i="0" u="none" dirty="0">
                <a:latin typeface="Poppins" panose="00000500000000000000" pitchFamily="2" charset="0"/>
                <a:cs typeface="Poppins" panose="00000500000000000000" pitchFamily="2" charset="0"/>
              </a:rPr>
              <a:t>By streamlining our invoicing process for closed deals and aggressively supporting our sales team to advance early-stage opportunities, we can capture over $15M in immediate cash reserves.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BE134E-2EBD-0CE3-C4C2-F2DCE0E6D5B8}"/>
              </a:ext>
            </a:extLst>
          </p:cNvPr>
          <p:cNvSpPr txBox="1"/>
          <p:nvPr/>
        </p:nvSpPr>
        <p:spPr>
          <a:xfrm>
            <a:off x="1401097" y="123160"/>
            <a:ext cx="9222658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sz="4200" b="1" i="0" u="none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Poppins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654528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264B1E-8B35-6167-95B2-C40CB6039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79552A53-73EE-80A0-306F-F1A0BE0C9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C4821041-B7D6-2C46-DF3B-6324F376E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75" y="4481512"/>
            <a:ext cx="4286250" cy="68580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874A65E9-F67E-6235-6083-BEDEA47E4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le 23">
            <a:extLst>
              <a:ext uri="{FF2B5EF4-FFF2-40B4-BE49-F238E27FC236}">
                <a16:creationId xmlns:a16="http://schemas.microsoft.com/office/drawing/2014/main" id="{4E7C6B2E-B674-5C48-6F0E-74FBA277C37A}"/>
              </a:ext>
            </a:extLst>
          </p:cNvPr>
          <p:cNvSpPr txBox="1">
            <a:spLocks/>
          </p:cNvSpPr>
          <p:nvPr/>
        </p:nvSpPr>
        <p:spPr>
          <a:xfrm>
            <a:off x="1769114" y="1109355"/>
            <a:ext cx="8898885" cy="2534265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Thank You</a:t>
            </a:r>
            <a:br>
              <a:rPr lang="en-US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We appreciate your time and attention.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59B151-70E9-6F13-5265-DFE20DB7B830}"/>
              </a:ext>
            </a:extLst>
          </p:cNvPr>
          <p:cNvSpPr txBox="1"/>
          <p:nvPr/>
        </p:nvSpPr>
        <p:spPr>
          <a:xfrm>
            <a:off x="1582994" y="3755923"/>
            <a:ext cx="9250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22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</TotalTime>
  <Words>951</Words>
  <Application>Microsoft Office PowerPoint</Application>
  <PresentationFormat>Widescreen</PresentationFormat>
  <Paragraphs>159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Lato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Devi</dc:creator>
  <cp:keywords/>
  <dc:description>generated using python-pptx</dc:description>
  <cp:lastModifiedBy>Er Utkarsh Vashistha</cp:lastModifiedBy>
  <cp:revision>4</cp:revision>
  <dcterms:created xsi:type="dcterms:W3CDTF">2013-01-27T09:14:16Z</dcterms:created>
  <dcterms:modified xsi:type="dcterms:W3CDTF">2026-10-01T10:31:39Z</dcterms:modified>
  <cp:category/>
</cp:coreProperties>
</file>
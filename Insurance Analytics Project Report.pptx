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heme/themeOverride1.xml" ContentType="application/vnd.openxmlformats-officedocument.themeOverr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71" r:id="rId13"/>
    <p:sldId id="269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941" autoAdjust="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1205" y="7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r Utkarsh Vashistha" userId="99cd10bc0c6fb414" providerId="LiveId" clId="{2379025F-BD0A-4FAC-85D2-4876D21813E1}"/>
    <pc:docChg chg="undo custSel modSld modMainMaster modShowInfo">
      <pc:chgData name="Er Utkarsh Vashistha" userId="99cd10bc0c6fb414" providerId="LiveId" clId="{2379025F-BD0A-4FAC-85D2-4876D21813E1}" dt="2026-10-01T10:34:36.707" v="110" actId="20577"/>
      <pc:docMkLst>
        <pc:docMk/>
      </pc:docMkLst>
      <pc:sldChg chg="modSp mod modTransition">
        <pc:chgData name="Er Utkarsh Vashistha" userId="99cd10bc0c6fb414" providerId="LiveId" clId="{2379025F-BD0A-4FAC-85D2-4876D21813E1}" dt="2026-10-01T10:34:36.707" v="110" actId="20577"/>
        <pc:sldMkLst>
          <pc:docMk/>
          <pc:sldMk cId="0" sldId="256"/>
        </pc:sldMkLst>
        <pc:spChg chg="mod">
          <ac:chgData name="Er Utkarsh Vashistha" userId="99cd10bc0c6fb414" providerId="LiveId" clId="{2379025F-BD0A-4FAC-85D2-4876D21813E1}" dt="2026-10-01T10:34:36.707" v="110" actId="20577"/>
          <ac:spMkLst>
            <pc:docMk/>
            <pc:sldMk cId="0" sldId="256"/>
            <ac:spMk id="5" creationId="{00000000-0000-0000-0000-000000000000}"/>
          </ac:spMkLst>
        </pc:spChg>
        <pc:spChg chg="mod">
          <ac:chgData name="Er Utkarsh Vashistha" userId="99cd10bc0c6fb414" providerId="LiveId" clId="{2379025F-BD0A-4FAC-85D2-4876D21813E1}" dt="2026-10-01T10:31:16.185" v="102" actId="255"/>
          <ac:spMkLst>
            <pc:docMk/>
            <pc:sldMk cId="0" sldId="256"/>
            <ac:spMk id="7" creationId="{00000000-0000-0000-0000-000000000000}"/>
          </ac:spMkLst>
        </pc:spChg>
      </pc:sldChg>
      <pc:sldChg chg="modSp mod">
        <pc:chgData name="Er Utkarsh Vashistha" userId="99cd10bc0c6fb414" providerId="LiveId" clId="{2379025F-BD0A-4FAC-85D2-4876D21813E1}" dt="2026-10-01T10:31:37.973" v="103" actId="6549"/>
        <pc:sldMkLst>
          <pc:docMk/>
          <pc:sldMk cId="831227711" sldId="269"/>
        </pc:sldMkLst>
        <pc:spChg chg="mod">
          <ac:chgData name="Er Utkarsh Vashistha" userId="99cd10bc0c6fb414" providerId="LiveId" clId="{2379025F-BD0A-4FAC-85D2-4876D21813E1}" dt="2026-10-01T10:31:37.973" v="103" actId="6549"/>
          <ac:spMkLst>
            <pc:docMk/>
            <pc:sldMk cId="831227711" sldId="269"/>
            <ac:spMk id="15" creationId="{9659B151-70E9-6F13-5265-DFE20DB7B83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66FC007-A26B-4D52-AEDF-F819D91F3B15}" type="datetimeFigureOut">
              <a:rPr lang="en-IN" smtClean="0"/>
              <a:t>01-10-2026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DC086D-0AE0-43B8-95E6-C7F43087989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103813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DC086D-0AE0-43B8-95E6-C7F43087989A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876609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13" Type="http://schemas.openxmlformats.org/officeDocument/2006/relationships/image" Target="../media/image39.png"/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12" Type="http://schemas.openxmlformats.org/officeDocument/2006/relationships/image" Target="../media/image3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2.png"/><Relationship Id="rId11" Type="http://schemas.openxmlformats.org/officeDocument/2006/relationships/image" Target="../media/image37.png"/><Relationship Id="rId5" Type="http://schemas.openxmlformats.org/officeDocument/2006/relationships/image" Target="../media/image31.png"/><Relationship Id="rId10" Type="http://schemas.openxmlformats.org/officeDocument/2006/relationships/image" Target="../media/image36.png"/><Relationship Id="rId4" Type="http://schemas.openxmlformats.org/officeDocument/2006/relationships/image" Target="../media/image30.png"/><Relationship Id="rId9" Type="http://schemas.openxmlformats.org/officeDocument/2006/relationships/image" Target="../media/image35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image" Target="../media/image40.png"/><Relationship Id="rId7" Type="http://schemas.openxmlformats.org/officeDocument/2006/relationships/image" Target="../media/image4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10" Type="http://schemas.openxmlformats.org/officeDocument/2006/relationships/image" Target="../media/image47.png"/><Relationship Id="rId4" Type="http://schemas.openxmlformats.org/officeDocument/2006/relationships/image" Target="../media/image41.png"/><Relationship Id="rId9" Type="http://schemas.openxmlformats.org/officeDocument/2006/relationships/image" Target="../media/image46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3" Type="http://schemas.openxmlformats.org/officeDocument/2006/relationships/image" Target="../media/image48.png"/><Relationship Id="rId7" Type="http://schemas.openxmlformats.org/officeDocument/2006/relationships/image" Target="../media/image5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10" Type="http://schemas.openxmlformats.org/officeDocument/2006/relationships/image" Target="../media/image55.png"/><Relationship Id="rId4" Type="http://schemas.openxmlformats.org/officeDocument/2006/relationships/image" Target="../media/image49.png"/><Relationship Id="rId9" Type="http://schemas.openxmlformats.org/officeDocument/2006/relationships/image" Target="../media/image54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png"/><Relationship Id="rId3" Type="http://schemas.openxmlformats.org/officeDocument/2006/relationships/image" Target="../media/image56.png"/><Relationship Id="rId7" Type="http://schemas.openxmlformats.org/officeDocument/2006/relationships/image" Target="../media/image6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9.png"/><Relationship Id="rId11" Type="http://schemas.openxmlformats.org/officeDocument/2006/relationships/image" Target="../media/image64.png"/><Relationship Id="rId5" Type="http://schemas.openxmlformats.org/officeDocument/2006/relationships/image" Target="../media/image58.png"/><Relationship Id="rId10" Type="http://schemas.openxmlformats.org/officeDocument/2006/relationships/image" Target="../media/image63.png"/><Relationship Id="rId4" Type="http://schemas.openxmlformats.org/officeDocument/2006/relationships/image" Target="../media/image57.png"/><Relationship Id="rId9" Type="http://schemas.openxmlformats.org/officeDocument/2006/relationships/image" Target="../media/image62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png"/><Relationship Id="rId3" Type="http://schemas.openxmlformats.org/officeDocument/2006/relationships/image" Target="../media/image3.png"/><Relationship Id="rId7" Type="http://schemas.openxmlformats.org/officeDocument/2006/relationships/image" Target="../media/image68.png"/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1.xml"/><Relationship Id="rId6" Type="http://schemas.openxmlformats.org/officeDocument/2006/relationships/image" Target="../media/image67.png"/><Relationship Id="rId11" Type="http://schemas.openxmlformats.org/officeDocument/2006/relationships/image" Target="../media/image72.png"/><Relationship Id="rId5" Type="http://schemas.openxmlformats.org/officeDocument/2006/relationships/image" Target="../media/image66.png"/><Relationship Id="rId10" Type="http://schemas.openxmlformats.org/officeDocument/2006/relationships/image" Target="../media/image71.png"/><Relationship Id="rId4" Type="http://schemas.openxmlformats.org/officeDocument/2006/relationships/image" Target="../media/image65.png"/><Relationship Id="rId9" Type="http://schemas.openxmlformats.org/officeDocument/2006/relationships/image" Target="../media/image70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8809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4324" y="4261394"/>
            <a:ext cx="10287000" cy="19132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4325" y="319826"/>
            <a:ext cx="10801350" cy="5770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4484"/>
              </a:lnSpc>
            </a:pPr>
            <a:r>
              <a:rPr lang="en-IN" sz="4000" b="1" dirty="0">
                <a:solidFill>
                  <a:srgbClr val="DCB12F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INSURANCE </a:t>
            </a:r>
            <a:r>
              <a:rPr lang="en-IN" sz="4000" b="1">
                <a:solidFill>
                  <a:srgbClr val="DCB12F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ANALYTICS PROJECT </a:t>
            </a:r>
            <a:endParaRPr sz="3900" b="1" i="0" u="none" dirty="0">
              <a:solidFill>
                <a:srgbClr val="FFFFFF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14324" y="1216733"/>
            <a:ext cx="11100927" cy="6061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2475"/>
              </a:lnSpc>
            </a:pPr>
            <a:r>
              <a:rPr lang="en-US" b="1" dirty="0">
                <a:solidFill>
                  <a:srgbClr val="FFFFFF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Executive Dashboard &amp; Business Intelligence Project</a:t>
            </a:r>
          </a:p>
          <a:p>
            <a:pPr algn="l">
              <a:lnSpc>
                <a:spcPts val="2475"/>
              </a:lnSpc>
            </a:pPr>
            <a:endParaRPr sz="1650" b="0" i="0" u="none" dirty="0">
              <a:solidFill>
                <a:srgbClr val="94A3B8"/>
              </a:solidFill>
              <a:latin typeface="Lato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14325" y="4380458"/>
            <a:ext cx="2238375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b="1" i="0" u="none" dirty="0">
                <a:solidFill>
                  <a:srgbClr val="FFC00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Prepared </a:t>
            </a:r>
            <a:r>
              <a:rPr lang="en-IN" b="1" i="0" u="none" dirty="0">
                <a:solidFill>
                  <a:srgbClr val="FFC00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By</a:t>
            </a:r>
          </a:p>
          <a:p>
            <a:r>
              <a:rPr lang="en-US" sz="1400" b="1" dirty="0">
                <a:solidFill>
                  <a:srgbClr val="FFC00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en-US" sz="1600" b="1" dirty="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Utkarsh Vasistha</a:t>
            </a:r>
          </a:p>
          <a:p>
            <a:endParaRPr b="1" i="0" u="none" dirty="0">
              <a:solidFill>
                <a:schemeClr val="bg1"/>
              </a:solidFill>
              <a:latin typeface="Aptos" panose="020B000402020202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838450" y="4380458"/>
            <a:ext cx="3100234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i="0" u="none" dirty="0">
                <a:solidFill>
                  <a:srgbClr val="FFC00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Time Period </a:t>
            </a:r>
            <a:endParaRPr lang="en-IN" b="1" i="0" u="none" dirty="0">
              <a:solidFill>
                <a:srgbClr val="FFC000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algn="l"/>
            <a:r>
              <a:rPr b="1" i="0" u="none" dirty="0">
                <a:solidFill>
                  <a:srgbClr val="F1F5F9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2019 - 2020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31974" y="4454812"/>
            <a:ext cx="4483510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i="0" u="none" dirty="0">
                <a:solidFill>
                  <a:srgbClr val="FFC00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Sales Scope </a:t>
            </a:r>
            <a:endParaRPr lang="en-IN" b="1" i="0" u="none" dirty="0">
              <a:solidFill>
                <a:srgbClr val="FFC000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algn="l"/>
            <a:r>
              <a:rPr b="1" i="0" u="none" dirty="0">
                <a:solidFill>
                  <a:srgbClr val="F1F5F9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Cross-Sell, New Business &amp; Renewals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D8B6530-CCE5-F777-D966-44316443D608}"/>
              </a:ext>
            </a:extLst>
          </p:cNvPr>
          <p:cNvSpPr txBox="1"/>
          <p:nvPr/>
        </p:nvSpPr>
        <p:spPr>
          <a:xfrm>
            <a:off x="314324" y="1760173"/>
            <a:ext cx="6858000" cy="92333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b="1" dirty="0">
                <a:solidFill>
                  <a:srgbClr val="E2E9F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A cross-platform analytics solution developed across
Excel, Power BI</a:t>
            </a:r>
            <a:r>
              <a:rPr lang="en-US" b="1" dirty="0">
                <a:solidFill>
                  <a:srgbClr val="E2E9F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, </a:t>
            </a:r>
            <a:r>
              <a:rPr b="1" dirty="0">
                <a:solidFill>
                  <a:srgbClr val="E2E9F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Tableau </a:t>
            </a:r>
            <a:r>
              <a:rPr lang="en-US" b="1" dirty="0">
                <a:solidFill>
                  <a:srgbClr val="E2E9F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and My SQL </a:t>
            </a:r>
            <a:r>
              <a:rPr b="1" dirty="0">
                <a:solidFill>
                  <a:srgbClr val="E2E9F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to monitor insurance performance</a:t>
            </a:r>
            <a:r>
              <a:rPr sz="1700" b="0" dirty="0">
                <a:solidFill>
                  <a:srgbClr val="E2E9F2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AFA553A-B8E7-5908-E478-1CF1DDBDC741}"/>
              </a:ext>
            </a:extLst>
          </p:cNvPr>
          <p:cNvSpPr txBox="1"/>
          <p:nvPr/>
        </p:nvSpPr>
        <p:spPr>
          <a:xfrm>
            <a:off x="314325" y="3008382"/>
            <a:ext cx="61746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u="none" dirty="0">
                <a:solidFill>
                  <a:srgbClr val="FFC00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Prepared For</a:t>
            </a:r>
            <a:r>
              <a:rPr lang="en-US" i="0" u="none" dirty="0">
                <a:solidFill>
                  <a:srgbClr val="FFFFFF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en-US" b="1" i="0" u="none" dirty="0">
                <a:solidFill>
                  <a:srgbClr val="F1F5F9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Management &amp; Sales Leaders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057400"/>
            <a:ext cx="5353050" cy="362902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7450" y="2057400"/>
            <a:ext cx="5353050" cy="36290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90625" y="2371725"/>
            <a:ext cx="4640580" cy="3143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50" b="0" i="0" u="none" dirty="0">
                <a:solidFill>
                  <a:srgbClr val="1E3A8A"/>
                </a:solidFill>
                <a:latin typeface="Poppins SemiBold"/>
              </a:rPr>
              <a:t>What We Want to Track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86575" y="2371725"/>
            <a:ext cx="4640580" cy="3143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50" b="0" i="0" u="none">
                <a:solidFill>
                  <a:srgbClr val="0D9488"/>
                </a:solidFill>
                <a:latin typeface="Poppins SemiBold"/>
              </a:rPr>
              <a:t>Business Value Impact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5825" y="2424112"/>
            <a:ext cx="209550" cy="2095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52525" y="2895600"/>
            <a:ext cx="4457700" cy="4857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1" i="0" u="none" dirty="0">
                <a:solidFill>
                  <a:srgbClr val="475569"/>
                </a:solidFill>
                <a:latin typeface="Lato"/>
              </a:rPr>
              <a:t>Sales Targets:</a:t>
            </a:r>
            <a:r>
              <a:rPr sz="1275" b="0" i="0" u="none" dirty="0">
                <a:solidFill>
                  <a:srgbClr val="475569"/>
                </a:solidFill>
                <a:latin typeface="Lato"/>
              </a:rPr>
              <a:t> Monitor goal attainment for new clients, cross-selling, and renewals.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525" y="3514725"/>
            <a:ext cx="4457700" cy="4857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1" i="0" u="none">
                <a:solidFill>
                  <a:srgbClr val="475569"/>
                </a:solidFill>
                <a:latin typeface="Lato"/>
              </a:rPr>
              <a:t>Active Deals Pipeline:</a:t>
            </a:r>
            <a:r>
              <a:rPr sz="1275" b="0" i="0" u="none">
                <a:solidFill>
                  <a:srgbClr val="475569"/>
                </a:solidFill>
                <a:latin typeface="Lato"/>
              </a:rPr>
              <a:t> Track open negotiations and potential revenue volume.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525" y="4133850"/>
            <a:ext cx="4457700" cy="4857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1" i="0" u="none">
                <a:solidFill>
                  <a:srgbClr val="475569"/>
                </a:solidFill>
                <a:latin typeface="Lato"/>
              </a:rPr>
              <a:t>Team Activity:</a:t>
            </a:r>
            <a:r>
              <a:rPr sz="1275" b="0" i="0" u="none">
                <a:solidFill>
                  <a:srgbClr val="475569"/>
                </a:solidFill>
                <a:latin typeface="Lato"/>
              </a:rPr>
              <a:t> Benchmark client meetings held vs. invoices generated per rep.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525" y="4752975"/>
            <a:ext cx="4457700" cy="4857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1" i="0" u="none">
                <a:solidFill>
                  <a:srgbClr val="475569"/>
                </a:solidFill>
                <a:latin typeface="Lato"/>
              </a:rPr>
              <a:t>Product Demand:</a:t>
            </a:r>
            <a:r>
              <a:rPr sz="1275" b="0" i="0" u="none">
                <a:solidFill>
                  <a:srgbClr val="475569"/>
                </a:solidFill>
                <a:latin typeface="Lato"/>
              </a:rPr>
              <a:t> Identify top performing coverage types (Health, Fire, Shipping).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81775" y="2424112"/>
            <a:ext cx="209550" cy="2095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848475" y="2895600"/>
            <a:ext cx="4457700" cy="4857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1" i="0" u="none">
                <a:solidFill>
                  <a:srgbClr val="475569"/>
                </a:solidFill>
                <a:latin typeface="Lato"/>
              </a:rPr>
              <a:t>Faster Cash Collection:</a:t>
            </a:r>
            <a:r>
              <a:rPr sz="1275" b="0" i="0" u="none">
                <a:solidFill>
                  <a:srgbClr val="475569"/>
                </a:solidFill>
                <a:latin typeface="Lato"/>
              </a:rPr>
              <a:t> Accelerate billing once agreements are signed.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48475" y="3514725"/>
            <a:ext cx="4457700" cy="4857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1" i="0" u="none">
                <a:solidFill>
                  <a:srgbClr val="475569"/>
                </a:solidFill>
                <a:latin typeface="Lato"/>
              </a:rPr>
              <a:t>Unstick Bottlenecks:</a:t>
            </a:r>
            <a:r>
              <a:rPr sz="1275" b="0" i="0" u="none">
                <a:solidFill>
                  <a:srgbClr val="475569"/>
                </a:solidFill>
                <a:latin typeface="Lato"/>
              </a:rPr>
              <a:t> Mobilize 44 pending opportunities lagging in early stages.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48475" y="4133850"/>
            <a:ext cx="4457700" cy="4857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1" i="0" u="none">
                <a:solidFill>
                  <a:srgbClr val="475569"/>
                </a:solidFill>
                <a:latin typeface="Lato"/>
              </a:rPr>
              <a:t>Resource Optimization:</a:t>
            </a:r>
            <a:r>
              <a:rPr sz="1275" b="0" i="0" u="none">
                <a:solidFill>
                  <a:srgbClr val="475569"/>
                </a:solidFill>
                <a:latin typeface="Lato"/>
              </a:rPr>
              <a:t> Direct top talent to high-value enterprise accounts.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48475" y="4752975"/>
            <a:ext cx="4457700" cy="4857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1" i="0" u="none">
                <a:solidFill>
                  <a:srgbClr val="475569"/>
                </a:solidFill>
                <a:latin typeface="Lato"/>
              </a:rPr>
              <a:t>Strategic Focus:</a:t>
            </a:r>
            <a:r>
              <a:rPr sz="1275" b="0" i="0" u="none">
                <a:solidFill>
                  <a:srgbClr val="475569"/>
                </a:solidFill>
                <a:latin typeface="Lato"/>
              </a:rPr>
              <a:t> Realign team incentives towards high-margin product lines.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1500" y="476250"/>
            <a:ext cx="11601450" cy="504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550" b="1" i="0" u="none" dirty="0">
                <a:solidFill>
                  <a:srgbClr val="0F172A"/>
                </a:solidFill>
                <a:latin typeface="Poppins"/>
              </a:rPr>
              <a:t>Why This Dashboard Matters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71500" y="1076325"/>
            <a:ext cx="11049000" cy="190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5825" y="2914650"/>
            <a:ext cx="171450" cy="180975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5825" y="3533775"/>
            <a:ext cx="171450" cy="180975"/>
          </a:xfrm>
          <a:prstGeom prst="rect">
            <a:avLst/>
          </a:prstGeom>
        </p:spPr>
      </p:pic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5825" y="4152900"/>
            <a:ext cx="171450" cy="180975"/>
          </a:xfrm>
          <a:prstGeom prst="rect">
            <a:avLst/>
          </a:prstGeom>
        </p:spPr>
      </p:pic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5825" y="4772025"/>
            <a:ext cx="171450" cy="180975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1775" y="2914650"/>
            <a:ext cx="171450" cy="180975"/>
          </a:xfrm>
          <a:prstGeom prst="rect">
            <a:avLst/>
          </a:prstGeom>
        </p:spPr>
      </p:pic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1775" y="3533775"/>
            <a:ext cx="171450" cy="180975"/>
          </a:xfrm>
          <a:prstGeom prst="rect">
            <a:avLst/>
          </a:prstGeom>
        </p:spPr>
      </p:pic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1775" y="4152900"/>
            <a:ext cx="171450" cy="180975"/>
          </a:xfrm>
          <a:prstGeom prst="rect">
            <a:avLst/>
          </a:prstGeom>
        </p:spPr>
      </p:pic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1775" y="4772025"/>
            <a:ext cx="171450" cy="18097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9758" y="161925"/>
            <a:ext cx="6907775" cy="140017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76250" y="476250"/>
            <a:ext cx="5400675" cy="990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550" b="1" i="0" u="none" dirty="0">
                <a:solidFill>
                  <a:srgbClr val="0F172A"/>
                </a:solidFill>
                <a:latin typeface="Poppins"/>
              </a:rPr>
              <a:t>Dashboard Overview &amp; Takeaways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476250" y="1562100"/>
            <a:ext cx="5143500" cy="190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76249" y="1738566"/>
            <a:ext cx="11528937" cy="4721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0" i="0" u="none" dirty="0">
                <a:solidFill>
                  <a:srgbClr val="475569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The dashboard consolidates critical operational metrics into </a:t>
            </a:r>
            <a:r>
              <a:rPr sz="1275" b="1" i="0" u="none" dirty="0">
                <a:solidFill>
                  <a:srgbClr val="475569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5 key sections</a:t>
            </a:r>
            <a:r>
              <a:rPr sz="1275" b="0" i="0" u="none" dirty="0">
                <a:solidFill>
                  <a:srgbClr val="475569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: Top Scorecards, Sales Types, Pipeline Stages, Team Effort, and Interactive Filters.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3975" y="556720"/>
            <a:ext cx="4960620" cy="215444"/>
          </a:xfrm>
          <a:prstGeom prst="rect">
            <a:avLst/>
          </a:prstGeom>
          <a:noFill/>
        </p:spPr>
        <p:txBody>
          <a:bodyPr wrap="square" lIns="133350" tIns="0" rIns="0" bIns="0" anchor="t">
            <a:spAutoFit/>
          </a:bodyPr>
          <a:lstStyle/>
          <a:p>
            <a:pPr algn="l"/>
            <a:r>
              <a:rPr lang="en-IN" sz="1400" b="1" i="0" u="none" dirty="0">
                <a:solidFill>
                  <a:srgbClr val="1E40AF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sz="1400" b="1" i="0" u="none" dirty="0">
                <a:solidFill>
                  <a:srgbClr val="1E40AF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Core Strategic Finding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80983" y="894858"/>
            <a:ext cx="6465324" cy="4470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 dirty="0">
                <a:solidFill>
                  <a:srgbClr val="1E3A8A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Our client retention is exceptional (</a:t>
            </a:r>
            <a:r>
              <a:rPr sz="1200" b="1" i="0" u="none" dirty="0">
                <a:solidFill>
                  <a:srgbClr val="1E3A8A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Renewals exceeded target by 50%</a:t>
            </a:r>
            <a:r>
              <a:rPr sz="1200" b="0" i="0" u="none" dirty="0">
                <a:solidFill>
                  <a:srgbClr val="1E3A8A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), but new client acquisition and cross-selling are severely lagging behind targets.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4141" y="576336"/>
            <a:ext cx="133350" cy="171450"/>
          </a:xfrm>
          <a:prstGeom prst="rect">
            <a:avLst/>
          </a:prstGeom>
        </p:spPr>
      </p:pic>
      <p:sp>
        <p:nvSpPr>
          <p:cNvPr id="12" name="Rounded Rectangle 6">
            <a:extLst>
              <a:ext uri="{FF2B5EF4-FFF2-40B4-BE49-F238E27FC236}">
                <a16:creationId xmlns:a16="http://schemas.microsoft.com/office/drawing/2014/main" id="{7385CE47-9EC4-37F1-D106-838B1B437EA6}"/>
              </a:ext>
            </a:extLst>
          </p:cNvPr>
          <p:cNvSpPr/>
          <p:nvPr/>
        </p:nvSpPr>
        <p:spPr>
          <a:xfrm>
            <a:off x="257114" y="2783453"/>
            <a:ext cx="3852770" cy="233172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E2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Excel Project Final Dashboard Insurance Analytics_Utkarsh Vashistha(2).png">
            <a:extLst>
              <a:ext uri="{FF2B5EF4-FFF2-40B4-BE49-F238E27FC236}">
                <a16:creationId xmlns:a16="http://schemas.microsoft.com/office/drawing/2014/main" id="{22158EDB-C891-ACDB-C1B9-7E84F24270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4699" y="3158062"/>
            <a:ext cx="3657600" cy="1827230"/>
          </a:xfrm>
          <a:prstGeom prst="rect">
            <a:avLst/>
          </a:prstGeom>
        </p:spPr>
      </p:pic>
      <p:sp>
        <p:nvSpPr>
          <p:cNvPr id="16" name="Rounded Rectangle 8">
            <a:extLst>
              <a:ext uri="{FF2B5EF4-FFF2-40B4-BE49-F238E27FC236}">
                <a16:creationId xmlns:a16="http://schemas.microsoft.com/office/drawing/2014/main" id="{23E9348E-40EE-C268-FF5E-148B0E2470DF}"/>
              </a:ext>
            </a:extLst>
          </p:cNvPr>
          <p:cNvSpPr/>
          <p:nvPr/>
        </p:nvSpPr>
        <p:spPr>
          <a:xfrm>
            <a:off x="4270248" y="2783453"/>
            <a:ext cx="3811870" cy="233172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E2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8">
            <a:extLst>
              <a:ext uri="{FF2B5EF4-FFF2-40B4-BE49-F238E27FC236}">
                <a16:creationId xmlns:a16="http://schemas.microsoft.com/office/drawing/2014/main" id="{CA14EDB1-CCE0-2C37-57B4-98B2262FCB3F}"/>
              </a:ext>
            </a:extLst>
          </p:cNvPr>
          <p:cNvSpPr/>
          <p:nvPr/>
        </p:nvSpPr>
        <p:spPr>
          <a:xfrm>
            <a:off x="8242482" y="2783453"/>
            <a:ext cx="3811870" cy="233172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E2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Power BI insurance project dashboard presented.png">
            <a:extLst>
              <a:ext uri="{FF2B5EF4-FFF2-40B4-BE49-F238E27FC236}">
                <a16:creationId xmlns:a16="http://schemas.microsoft.com/office/drawing/2014/main" id="{74AC1FE7-0345-8215-6F6D-5ADCA4A06E5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66998" y="3079555"/>
            <a:ext cx="3646292" cy="1905737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79459888-87C9-20AD-E16A-8E2CF1E93F0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47585" y="3079555"/>
            <a:ext cx="3657601" cy="1828013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A16E70DE-A7D6-E323-69DC-832B48931163}"/>
              </a:ext>
            </a:extLst>
          </p:cNvPr>
          <p:cNvSpPr txBox="1"/>
          <p:nvPr/>
        </p:nvSpPr>
        <p:spPr>
          <a:xfrm>
            <a:off x="89965" y="2400584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dirty="0">
                <a:solidFill>
                  <a:srgbClr val="3D9B60"/>
                </a:solidFill>
                <a:latin typeface="Aptos"/>
              </a:rPr>
              <a:t>EXCEL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C492096-0A37-2AD1-D5F1-D8BD6463235A}"/>
              </a:ext>
            </a:extLst>
          </p:cNvPr>
          <p:cNvSpPr txBox="1"/>
          <p:nvPr/>
        </p:nvSpPr>
        <p:spPr>
          <a:xfrm>
            <a:off x="4058695" y="2400584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dirty="0">
                <a:solidFill>
                  <a:srgbClr val="2B69AD"/>
                </a:solidFill>
                <a:latin typeface="Aptos"/>
              </a:rPr>
              <a:t>POWER BI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7CCEDF5-89A0-29DF-030E-3FA1DEFDCDD1}"/>
              </a:ext>
            </a:extLst>
          </p:cNvPr>
          <p:cNvSpPr txBox="1"/>
          <p:nvPr/>
        </p:nvSpPr>
        <p:spPr>
          <a:xfrm>
            <a:off x="8155795" y="2438688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dirty="0">
                <a:solidFill>
                  <a:srgbClr val="775BAA"/>
                </a:solidFill>
                <a:latin typeface="Aptos"/>
              </a:rPr>
              <a:t>TABLEAU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109787"/>
            <a:ext cx="3530500" cy="154305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0600" y="2109787"/>
            <a:ext cx="3530649" cy="154305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89850" y="2109787"/>
            <a:ext cx="3530500" cy="154305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3976687"/>
            <a:ext cx="5353050" cy="165735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67450" y="3976687"/>
            <a:ext cx="5353050" cy="16573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7725" y="2338387"/>
            <a:ext cx="302567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sz="3600" b="1" i="0" u="none">
                <a:solidFill>
                  <a:srgbClr val="16A34A"/>
                </a:solidFill>
                <a:latin typeface="Poppins"/>
              </a:rPr>
              <a:t>150%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7725" y="2871787"/>
            <a:ext cx="3025675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25" b="1" i="0" u="none">
                <a:solidFill>
                  <a:srgbClr val="334155"/>
                </a:solidFill>
                <a:latin typeface="Lato"/>
              </a:rPr>
              <a:t>RENEWALS CLOSED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7725" y="3100387"/>
            <a:ext cx="3025675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64748B"/>
                </a:solidFill>
                <a:latin typeface="Lato"/>
              </a:rPr>
              <a:t>50% over total goal budget! Strong existing client loyalty.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06825" y="2338387"/>
            <a:ext cx="302582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sz="3600" b="1" i="0" u="none">
                <a:solidFill>
                  <a:srgbClr val="DC2626"/>
                </a:solidFill>
                <a:latin typeface="Poppins"/>
              </a:rPr>
              <a:t>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6825" y="2871787"/>
            <a:ext cx="3025824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25" b="1" i="0" u="none">
                <a:solidFill>
                  <a:srgbClr val="334155"/>
                </a:solidFill>
                <a:latin typeface="Lato"/>
              </a:rPr>
              <a:t>NEW CLIENT CASH BILLED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06825" y="3100387"/>
            <a:ext cx="3025824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64748B"/>
                </a:solidFill>
                <a:latin typeface="Lato"/>
              </a:rPr>
              <a:t>Extreme gap: Signed accounts are not being invoiced.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075" y="2338387"/>
            <a:ext cx="302567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sz="3600" b="1" i="0" u="none">
                <a:solidFill>
                  <a:srgbClr val="D97706"/>
                </a:solidFill>
                <a:latin typeface="Poppins"/>
              </a:rPr>
              <a:t>14%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075" y="2871787"/>
            <a:ext cx="3025675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25" b="1" i="0" u="none">
                <a:solidFill>
                  <a:srgbClr val="334155"/>
                </a:solidFill>
                <a:latin typeface="Lato"/>
              </a:rPr>
              <a:t>CROSS-SELL CASH BILLED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075" y="3100387"/>
            <a:ext cx="3025675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64748B"/>
                </a:solidFill>
                <a:latin typeface="Lato"/>
              </a:rPr>
              <a:t>Minimal expansion within our existing client base.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5825" y="4291012"/>
            <a:ext cx="4960620" cy="314325"/>
          </a:xfrm>
          <a:prstGeom prst="rect">
            <a:avLst/>
          </a:prstGeom>
          <a:noFill/>
        </p:spPr>
        <p:txBody>
          <a:bodyPr wrap="square" lIns="209550" tIns="0" rIns="0" bIns="0" anchor="t">
            <a:spAutoFit/>
          </a:bodyPr>
          <a:lstStyle/>
          <a:p>
            <a:pPr algn="l"/>
            <a:r>
              <a:rPr sz="1650" b="0" i="0" u="none">
                <a:solidFill>
                  <a:srgbClr val="166534"/>
                </a:solidFill>
                <a:latin typeface="Poppins SemiBold"/>
              </a:rPr>
              <a:t>The Retention Success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5825" y="4719637"/>
            <a:ext cx="4724400" cy="4857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0" i="0" u="none">
                <a:solidFill>
                  <a:srgbClr val="475569"/>
                </a:solidFill>
                <a:latin typeface="Lato"/>
              </a:rPr>
              <a:t>Clients trust our services and renew consistently. Renewal closed volume hit </a:t>
            </a:r>
            <a:r>
              <a:rPr sz="1275" b="1" i="0" u="none">
                <a:solidFill>
                  <a:srgbClr val="475569"/>
                </a:solidFill>
                <a:latin typeface="Lato"/>
              </a:rPr>
              <a:t>150% of budget</a:t>
            </a:r>
            <a:r>
              <a:rPr sz="1275" b="0" i="0" u="none">
                <a:solidFill>
                  <a:srgbClr val="475569"/>
                </a:solidFill>
                <a:latin typeface="Lato"/>
              </a:rPr>
              <a:t> ($18.5M vs $12.3M target).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1775" y="4291012"/>
            <a:ext cx="4960620" cy="314325"/>
          </a:xfrm>
          <a:prstGeom prst="rect">
            <a:avLst/>
          </a:prstGeom>
          <a:noFill/>
        </p:spPr>
        <p:txBody>
          <a:bodyPr wrap="square" lIns="209550" tIns="0" rIns="0" bIns="0" anchor="t">
            <a:spAutoFit/>
          </a:bodyPr>
          <a:lstStyle/>
          <a:p>
            <a:pPr algn="l"/>
            <a:r>
              <a:rPr sz="1650" b="0" i="0" u="none">
                <a:solidFill>
                  <a:srgbClr val="991B1B"/>
                </a:solidFill>
                <a:latin typeface="Poppins SemiBold"/>
              </a:rPr>
              <a:t>The Billing Disconnect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1775" y="4719637"/>
            <a:ext cx="4724400" cy="4857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0" i="0" u="none">
                <a:solidFill>
                  <a:srgbClr val="475569"/>
                </a:solidFill>
                <a:latin typeface="Lato"/>
              </a:rPr>
              <a:t>New business deals are signed ($3.4M closed), but almost zero cash ($600K) has been billed to date due to administrative delays.</a:t>
            </a:r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5825" y="4338637"/>
            <a:ext cx="209550" cy="209550"/>
          </a:xfrm>
          <a:prstGeom prst="rect">
            <a:avLst/>
          </a:prstGeom>
        </p:spPr>
      </p:pic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81775" y="4338637"/>
            <a:ext cx="209550" cy="20955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71500" y="476250"/>
            <a:ext cx="11601450" cy="504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550" b="1" i="0" u="none" dirty="0">
                <a:solidFill>
                  <a:srgbClr val="0F172A"/>
                </a:solidFill>
                <a:latin typeface="Poppins"/>
              </a:rPr>
              <a:t>Performance Against Target Goals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71500" y="1076325"/>
            <a:ext cx="11049000" cy="190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228850"/>
            <a:ext cx="5353050" cy="123825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7450" y="2062162"/>
            <a:ext cx="5353050" cy="36195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1525" y="2428875"/>
            <a:ext cx="520065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 u="none">
                <a:solidFill>
                  <a:srgbClr val="1E293B"/>
                </a:solidFill>
                <a:latin typeface="Poppins SemiBold"/>
              </a:rPr>
              <a:t>Pipeline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1525" y="2809875"/>
            <a:ext cx="4953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475569"/>
                </a:solidFill>
                <a:latin typeface="Lato"/>
              </a:rPr>
              <a:t>Total Potential Opportunities:</a:t>
            </a:r>
            <a:r>
              <a:rPr sz="1200" b="0" i="0" u="none">
                <a:solidFill>
                  <a:srgbClr val="475569"/>
                </a:solidFill>
                <a:latin typeface="Lato"/>
              </a:rPr>
              <a:t> 49 Deals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1525" y="3038475"/>
            <a:ext cx="4953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475569"/>
                </a:solidFill>
                <a:latin typeface="Lato"/>
              </a:rPr>
              <a:t>Deals Open/In Progress:</a:t>
            </a:r>
            <a:r>
              <a:rPr sz="1200" b="0" i="0" u="none">
                <a:solidFill>
                  <a:srgbClr val="475569"/>
                </a:solidFill>
                <a:latin typeface="Lato"/>
              </a:rPr>
              <a:t> 44 Deals (90% Unclosed)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8200" y="3657600"/>
            <a:ext cx="5086350" cy="4857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1" i="0" u="none">
                <a:solidFill>
                  <a:srgbClr val="475569"/>
                </a:solidFill>
                <a:latin typeface="Lato"/>
              </a:rPr>
              <a:t>Stage 1 (Checking Details):</a:t>
            </a:r>
            <a:r>
              <a:rPr sz="1275" b="0" i="0" u="none">
                <a:solidFill>
                  <a:srgbClr val="475569"/>
                </a:solidFill>
                <a:latin typeface="Lato"/>
              </a:rPr>
              <a:t> $6.0M (85.7% of total revenue) sits stalled in the earliest qualification phase.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4276725"/>
            <a:ext cx="5086350" cy="4857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1" i="0" u="none">
                <a:solidFill>
                  <a:srgbClr val="475569"/>
                </a:solidFill>
                <a:latin typeface="Lato"/>
              </a:rPr>
              <a:t>Stage 2 (Final Talks):</a:t>
            </a:r>
            <a:r>
              <a:rPr sz="1275" b="0" i="0" u="none">
                <a:solidFill>
                  <a:srgbClr val="475569"/>
                </a:solidFill>
                <a:latin typeface="Lato"/>
              </a:rPr>
              <a:t> Only $1.0M (14.3%) has progressed to final negotiations.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4895850"/>
            <a:ext cx="5086350" cy="4857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1" i="0" u="none">
                <a:solidFill>
                  <a:srgbClr val="475569"/>
                </a:solidFill>
                <a:latin typeface="Lato"/>
              </a:rPr>
              <a:t>Core Issue:</a:t>
            </a:r>
            <a:r>
              <a:rPr sz="1275" b="0" i="0" u="none">
                <a:solidFill>
                  <a:srgbClr val="475569"/>
                </a:solidFill>
                <a:latin typeface="Lato"/>
              </a:rPr>
              <a:t> Sales reps are not driving fast momentum after initial discovery calls.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7450" y="2062162"/>
            <a:ext cx="5353050" cy="36195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71500" y="476250"/>
            <a:ext cx="11601450" cy="504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550" b="1" i="0" u="none">
                <a:solidFill>
                  <a:srgbClr val="0F172A"/>
                </a:solidFill>
                <a:latin typeface="Poppins"/>
              </a:rPr>
              <a:t>Pipeline Stagnation Analysis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1500" y="1076325"/>
            <a:ext cx="11049000" cy="190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3676650"/>
            <a:ext cx="171450" cy="180975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4295775"/>
            <a:ext cx="171450" cy="180975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4914900"/>
            <a:ext cx="171450" cy="18097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331243"/>
            <a:ext cx="11049000" cy="2119312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4679156"/>
            <a:ext cx="11049000" cy="733425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81025" y="2340768"/>
          <a:ext cx="11029947" cy="21002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2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52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7734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8461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353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25065"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FFFFFF"/>
                          </a:solidFill>
                          <a:latin typeface="Poppins SemiBold"/>
                        </a:rPr>
                        <a:t>Sales Stream Category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FFFFFF"/>
                          </a:solidFill>
                          <a:latin typeface="Poppins SemiBold"/>
                        </a:rPr>
                        <a:t>Target Budget ($M)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FFFFFF"/>
                          </a:solidFill>
                          <a:latin typeface="Poppins SemiBold"/>
                        </a:rPr>
                        <a:t>Deals Closed ($M)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FFFFFF"/>
                          </a:solidFill>
                          <a:latin typeface="Poppins SemiBold"/>
                        </a:rPr>
                        <a:t>Cash Billed ($M)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FFFFFF"/>
                          </a:solidFill>
                          <a:latin typeface="Poppins SemiBold"/>
                        </a:rPr>
                        <a:t>Variance vs Target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5065">
                <a:tc>
                  <a:txBody>
                    <a:bodyPr/>
                    <a:lstStyle/>
                    <a:p>
                      <a:pPr algn="l"/>
                      <a:r>
                        <a:rPr sz="1200" b="1" i="0" u="none">
                          <a:solidFill>
                            <a:srgbClr val="334155"/>
                          </a:solidFill>
                          <a:latin typeface="Lato"/>
                        </a:rPr>
                        <a:t>Renewals (Existing Clients)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334155"/>
                          </a:solidFill>
                          <a:latin typeface="Lato"/>
                        </a:rPr>
                        <a:t>$12.3M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334155"/>
                          </a:solidFill>
                          <a:latin typeface="Lato"/>
                        </a:rPr>
                        <a:t>$18.5M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334155"/>
                          </a:solidFill>
                          <a:latin typeface="Lato"/>
                        </a:rPr>
                        <a:t>$8.2M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334155"/>
                          </a:solidFill>
                          <a:latin typeface="Lato"/>
                        </a:rPr>
                        <a:t>+50% Closed / -33% Billed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5065">
                <a:tc>
                  <a:txBody>
                    <a:bodyPr/>
                    <a:lstStyle/>
                    <a:p>
                      <a:pPr algn="l"/>
                      <a:r>
                        <a:rPr sz="1200" b="1" i="0" u="none">
                          <a:solidFill>
                            <a:srgbClr val="334155"/>
                          </a:solidFill>
                          <a:latin typeface="Lato"/>
                        </a:rPr>
                        <a:t>Cross-Sell (Policy Add-ons)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334155"/>
                          </a:solidFill>
                          <a:latin typeface="Lato"/>
                        </a:rPr>
                        <a:t>$20.0M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334155"/>
                          </a:solidFill>
                          <a:latin typeface="Lato"/>
                        </a:rPr>
                        <a:t>$13.0M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334155"/>
                          </a:solidFill>
                          <a:latin typeface="Lato"/>
                        </a:rPr>
                        <a:t>$3.0M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 dirty="0">
                          <a:solidFill>
                            <a:srgbClr val="334155"/>
                          </a:solidFill>
                          <a:latin typeface="Lato"/>
                        </a:rPr>
                        <a:t>Short by $17.0M Cash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5067">
                <a:tc>
                  <a:txBody>
                    <a:bodyPr/>
                    <a:lstStyle/>
                    <a:p>
                      <a:pPr algn="l"/>
                      <a:r>
                        <a:rPr sz="1200" b="1" i="0" u="none">
                          <a:solidFill>
                            <a:srgbClr val="334155"/>
                          </a:solidFill>
                          <a:latin typeface="Lato"/>
                        </a:rPr>
                        <a:t>New Business (New Clients)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334155"/>
                          </a:solidFill>
                          <a:latin typeface="Lato"/>
                        </a:rPr>
                        <a:t>$19.7M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334155"/>
                          </a:solidFill>
                          <a:latin typeface="Lato"/>
                        </a:rPr>
                        <a:t>$3.4M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334155"/>
                          </a:solidFill>
                          <a:latin typeface="Lato"/>
                        </a:rPr>
                        <a:t>$0.6M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 dirty="0">
                          <a:solidFill>
                            <a:srgbClr val="334155"/>
                          </a:solidFill>
                          <a:latin typeface="Lato"/>
                        </a:rPr>
                        <a:t>Severe Underperformance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00100" y="4831556"/>
            <a:ext cx="10629900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1" i="0" u="none">
                <a:solidFill>
                  <a:srgbClr val="334155"/>
                </a:solidFill>
                <a:latin typeface="Lato"/>
              </a:rPr>
              <a:t>Key Takeaway:</a:t>
            </a:r>
            <a:r>
              <a:rPr sz="1125" b="0" i="0" u="none">
                <a:solidFill>
                  <a:srgbClr val="334155"/>
                </a:solidFill>
                <a:latin typeface="Lato"/>
              </a:rPr>
              <a:t> Closed agreements total $34.9M, but actual collected/billed revenue is only $11.8M across all lines—leaving an immediate </a:t>
            </a:r>
            <a:r>
              <a:rPr sz="1125" b="1" i="0" u="none">
                <a:solidFill>
                  <a:srgbClr val="334155"/>
                </a:solidFill>
                <a:latin typeface="Lato"/>
              </a:rPr>
              <a:t>$23.1M gap</a:t>
            </a:r>
            <a:r>
              <a:rPr sz="1125" b="0" i="0" u="none">
                <a:solidFill>
                  <a:srgbClr val="334155"/>
                </a:solidFill>
                <a:latin typeface="Lato"/>
              </a:rPr>
              <a:t> in unrealized potential revenue.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81025" y="3359943"/>
            <a:ext cx="2559248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140273" y="3359943"/>
            <a:ext cx="2195214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335488" y="3359943"/>
            <a:ext cx="207734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412831" y="3359943"/>
            <a:ext cx="188461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9297441" y="3359943"/>
            <a:ext cx="2313533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81025" y="3898106"/>
            <a:ext cx="2559248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140273" y="3898106"/>
            <a:ext cx="2195214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335488" y="3898106"/>
            <a:ext cx="2077342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412831" y="3898106"/>
            <a:ext cx="188461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9297441" y="3898106"/>
            <a:ext cx="2313533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64115" y="2975391"/>
            <a:ext cx="1942981" cy="303590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64116" y="3546910"/>
            <a:ext cx="1530026" cy="280504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64116" y="4036218"/>
            <a:ext cx="1953539" cy="352425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71500" y="476250"/>
            <a:ext cx="11601450" cy="504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550" b="1" i="0" u="none">
                <a:solidFill>
                  <a:srgbClr val="0F172A"/>
                </a:solidFill>
                <a:latin typeface="Poppins"/>
              </a:rPr>
              <a:t>Sales Revenue Breakdown by Type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71500" y="1076325"/>
            <a:ext cx="11049000" cy="190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290762"/>
            <a:ext cx="2590800" cy="31623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90900" y="2290762"/>
            <a:ext cx="2590800" cy="31623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0300" y="2290762"/>
            <a:ext cx="2590800" cy="31623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29700" y="2290762"/>
            <a:ext cx="2590800" cy="31623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725" y="2566987"/>
            <a:ext cx="514350" cy="5143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7725" y="3271837"/>
            <a:ext cx="2140267" cy="314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0" i="0" u="none">
                <a:solidFill>
                  <a:srgbClr val="1E293B"/>
                </a:solidFill>
                <a:latin typeface="Poppins SemiBold"/>
              </a:rPr>
              <a:t>Employee Benefits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7725" y="3700462"/>
            <a:ext cx="2038350" cy="242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1" i="0" u="none">
                <a:solidFill>
                  <a:srgbClr val="2563EB"/>
                </a:solidFill>
                <a:latin typeface="Lato"/>
              </a:rPr>
              <a:t>#1 Most Popular 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7725" y="4019550"/>
            <a:ext cx="2038350" cy="971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0" i="0" u="none">
                <a:solidFill>
                  <a:srgbClr val="475569"/>
                </a:solidFill>
                <a:latin typeface="Lato"/>
              </a:rPr>
              <a:t>Group health &amp; staff coverage represents our highest corporate demand and primary deal driver.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67125" y="2566987"/>
            <a:ext cx="514350" cy="51435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667125" y="3271837"/>
            <a:ext cx="2140267" cy="314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0" i="0" u="none">
                <a:solidFill>
                  <a:srgbClr val="1E293B"/>
                </a:solidFill>
                <a:latin typeface="Poppins SemiBold"/>
              </a:rPr>
              <a:t>Fire Cover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67125" y="3700462"/>
            <a:ext cx="2038350" cy="242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1" i="0" u="none">
                <a:solidFill>
                  <a:srgbClr val="0D9488"/>
                </a:solidFill>
                <a:latin typeface="Lato"/>
              </a:rPr>
              <a:t>#2 Preferred Choice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67125" y="4019550"/>
            <a:ext cx="2038350" cy="971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0" i="0" u="none">
                <a:solidFill>
                  <a:srgbClr val="475569"/>
                </a:solidFill>
                <a:latin typeface="Lato"/>
              </a:rPr>
              <a:t>Commercial property and fire risk protection form our steady foundation for corporate accounts.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86525" y="2566987"/>
            <a:ext cx="514350" cy="51435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86525" y="3271837"/>
            <a:ext cx="2140267" cy="628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0" i="0" u="none">
                <a:solidFill>
                  <a:srgbClr val="1E293B"/>
                </a:solidFill>
                <a:latin typeface="Poppins SemiBold"/>
              </a:rPr>
              <a:t>Marine &amp; Engineering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86525" y="4014787"/>
            <a:ext cx="2038350" cy="242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1" i="0" u="none">
                <a:solidFill>
                  <a:srgbClr val="4F46E5"/>
                </a:solidFill>
                <a:latin typeface="Lato"/>
              </a:rPr>
              <a:t>Steady Volume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86525" y="4333875"/>
            <a:ext cx="2038350" cy="7286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0" i="0" u="none">
                <a:solidFill>
                  <a:srgbClr val="475569"/>
                </a:solidFill>
                <a:latin typeface="Lato"/>
              </a:rPr>
              <a:t>7 Marine and 6 Engineering deals closed. Reliable medium-ticket business lines.</a:t>
            </a:r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05925" y="2566987"/>
            <a:ext cx="514350" cy="51435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305925" y="3271837"/>
            <a:ext cx="2140267" cy="314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0" i="0" u="none">
                <a:solidFill>
                  <a:srgbClr val="1E293B"/>
                </a:solidFill>
                <a:latin typeface="Poppins SemiBold"/>
              </a:rPr>
              <a:t>Specialty Cover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05925" y="3700462"/>
            <a:ext cx="2038350" cy="242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1" i="0" u="none">
                <a:solidFill>
                  <a:srgbClr val="D97706"/>
                </a:solidFill>
                <a:latin typeface="Lato"/>
              </a:rPr>
              <a:t>Growth Opportunity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05925" y="4019550"/>
            <a:ext cx="2038350" cy="971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0" i="0" u="none">
                <a:solidFill>
                  <a:srgbClr val="475569"/>
                </a:solidFill>
                <a:latin typeface="Lato"/>
              </a:rPr>
              <a:t>Niche offerings like Terrorism insurance are rarely pitched—unlocked market potential.</a:t>
            </a:r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90600" y="2709862"/>
            <a:ext cx="228600" cy="228600"/>
          </a:xfrm>
          <a:prstGeom prst="rect">
            <a:avLst/>
          </a:prstGeom>
        </p:spPr>
      </p:pic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810000" y="2709862"/>
            <a:ext cx="228600" cy="228600"/>
          </a:xfrm>
          <a:prstGeom prst="rect">
            <a:avLst/>
          </a:prstGeom>
        </p:spPr>
      </p:pic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615112" y="2709862"/>
            <a:ext cx="257175" cy="228600"/>
          </a:xfrm>
          <a:prstGeom prst="rect">
            <a:avLst/>
          </a:prstGeom>
        </p:spPr>
      </p:pic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448800" y="2709862"/>
            <a:ext cx="228600" cy="2286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71500" y="476250"/>
            <a:ext cx="11601450" cy="504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550" b="1" i="0" u="none">
                <a:solidFill>
                  <a:srgbClr val="0F172A"/>
                </a:solidFill>
                <a:latin typeface="Poppins"/>
              </a:rPr>
              <a:t>Insurance Policy Demand &amp; Distribution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71500" y="1076325"/>
            <a:ext cx="11049000" cy="190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250" y="2528887"/>
            <a:ext cx="5143500" cy="265747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250" y="5338762"/>
            <a:ext cx="5143500" cy="5143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76250" y="476250"/>
            <a:ext cx="5400675" cy="504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550" b="1" i="0" u="none">
                <a:solidFill>
                  <a:srgbClr val="0F172A"/>
                </a:solidFill>
                <a:latin typeface="Poppins"/>
              </a:rPr>
              <a:t>Top Potential Deals to Close</a:t>
            </a:r>
          </a:p>
        </p:txBody>
      </p:sp>
      <p:sp>
        <p:nvSpPr>
          <p:cNvPr id="6" name="Rectangle 5"/>
          <p:cNvSpPr/>
          <p:nvPr/>
        </p:nvSpPr>
        <p:spPr>
          <a:xfrm>
            <a:off x="476250" y="1076325"/>
            <a:ext cx="5143500" cy="190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0"/>
            <a:ext cx="6096000" cy="6858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6250" y="1890712"/>
            <a:ext cx="5143500" cy="4857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0" i="0" u="none">
                <a:solidFill>
                  <a:srgbClr val="475569"/>
                </a:solidFill>
                <a:latin typeface="Lato"/>
              </a:rPr>
              <a:t>Focusing executive resources on the top 4 pending accounts will yield immediate high-margin returns: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85775" y="2538412"/>
          <a:ext cx="5124449" cy="26384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58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46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240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7685"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FFFFFF"/>
                          </a:solidFill>
                          <a:latin typeface="Poppins SemiBold"/>
                        </a:rPr>
                        <a:t>Deal Description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FFFFFF"/>
                          </a:solidFill>
                          <a:latin typeface="Poppins SemiBold"/>
                        </a:rPr>
                        <a:t>Value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FFFFFF"/>
                          </a:solidFill>
                          <a:latin typeface="Poppins SemiBold"/>
                        </a:rPr>
                        <a:t>Status Stage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7685"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334155"/>
                          </a:solidFill>
                          <a:latin typeface="Lato"/>
                        </a:rPr>
                        <a:t>Fire Insurance Deal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 u="none">
                          <a:solidFill>
                            <a:srgbClr val="334155"/>
                          </a:solidFill>
                          <a:latin typeface="Lato"/>
                        </a:rPr>
                        <a:t>$500,000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334155"/>
                          </a:solidFill>
                          <a:latin typeface="Lato"/>
                        </a:rPr>
                        <a:t>Finalizing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7685"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334155"/>
                          </a:solidFill>
                          <a:latin typeface="Lato"/>
                        </a:rPr>
                        <a:t>Commercial Package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 u="none">
                          <a:solidFill>
                            <a:srgbClr val="334155"/>
                          </a:solidFill>
                          <a:latin typeface="Lato"/>
                        </a:rPr>
                        <a:t>$400,000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334155"/>
                          </a:solidFill>
                          <a:latin typeface="Lato"/>
                        </a:rPr>
                        <a:t>Negotiation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7685"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334155"/>
                          </a:solidFill>
                          <a:latin typeface="Lato"/>
                        </a:rPr>
                        <a:t>Group Health Plan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 u="none">
                          <a:solidFill>
                            <a:srgbClr val="334155"/>
                          </a:solidFill>
                          <a:latin typeface="Lato"/>
                        </a:rPr>
                        <a:t>$400,000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334155"/>
                          </a:solidFill>
                          <a:latin typeface="Lato"/>
                        </a:rPr>
                        <a:t>Checking Info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7685"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334155"/>
                          </a:solidFill>
                          <a:latin typeface="Lato"/>
                        </a:rPr>
                        <a:t>Staff Medical Policy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 u="none">
                          <a:solidFill>
                            <a:srgbClr val="334155"/>
                          </a:solidFill>
                          <a:latin typeface="Lato"/>
                        </a:rPr>
                        <a:t>$350,000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 dirty="0">
                          <a:solidFill>
                            <a:srgbClr val="334155"/>
                          </a:solidFill>
                          <a:latin typeface="Lato"/>
                        </a:rPr>
                        <a:t>Proposal Sent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19125" y="5481637"/>
            <a:ext cx="4857750" cy="228600"/>
          </a:xfrm>
          <a:prstGeom prst="rect">
            <a:avLst/>
          </a:prstGeom>
          <a:noFill/>
        </p:spPr>
        <p:txBody>
          <a:bodyPr wrap="square" lIns="152400" tIns="0" rIns="0" bIns="0" anchor="t">
            <a:spAutoFit/>
          </a:bodyPr>
          <a:lstStyle/>
          <a:p>
            <a:pPr algn="ctr">
              <a:lnSpc>
                <a:spcPts val="1800"/>
              </a:lnSpc>
            </a:pPr>
            <a:r>
              <a:rPr sz="1200" b="1" i="0" u="none">
                <a:solidFill>
                  <a:srgbClr val="166534"/>
                </a:solidFill>
                <a:latin typeface="Lato"/>
              </a:rPr>
              <a:t>Closing just these top 4 deals yields $1.65 Million instantly!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5837" y="5519737"/>
            <a:ext cx="152400" cy="1524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485775" y="3557587"/>
            <a:ext cx="2145803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631578" y="3557587"/>
            <a:ext cx="1254621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886200" y="3557587"/>
            <a:ext cx="172402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85775" y="4095750"/>
            <a:ext cx="2145803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2631578" y="4095750"/>
            <a:ext cx="1254621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886200" y="4095750"/>
            <a:ext cx="172402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85775" y="4633912"/>
            <a:ext cx="2145803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2631578" y="4633912"/>
            <a:ext cx="1254621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886200" y="4633912"/>
            <a:ext cx="172402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86200" y="3167062"/>
            <a:ext cx="923926" cy="329973"/>
          </a:xfrm>
          <a:prstGeom prst="rect">
            <a:avLst/>
          </a:prstGeom>
        </p:spPr>
      </p:pic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54036" y="3705225"/>
            <a:ext cx="1079914" cy="329973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86200" y="4243387"/>
            <a:ext cx="1143000" cy="314324"/>
          </a:xfrm>
          <a:prstGeom prst="rect">
            <a:avLst/>
          </a:prstGeom>
        </p:spPr>
      </p:pic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886201" y="4781550"/>
            <a:ext cx="1142999" cy="31432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757487"/>
            <a:ext cx="5353050" cy="265747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7450" y="2824162"/>
            <a:ext cx="5353050" cy="25241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1500" y="2328862"/>
            <a:ext cx="5620702" cy="314325"/>
          </a:xfrm>
          <a:prstGeom prst="rect">
            <a:avLst/>
          </a:prstGeom>
          <a:noFill/>
        </p:spPr>
        <p:txBody>
          <a:bodyPr wrap="square" lIns="266700" tIns="0" rIns="0" bIns="0" anchor="t">
            <a:spAutoFit/>
          </a:bodyPr>
          <a:lstStyle/>
          <a:p>
            <a:pPr algn="l"/>
            <a:r>
              <a:rPr sz="1650" b="0" i="0" u="none">
                <a:solidFill>
                  <a:srgbClr val="1E293B"/>
                </a:solidFill>
                <a:latin typeface="Poppins SemiBold"/>
              </a:rPr>
              <a:t>Client Meetings Held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7450" y="2395537"/>
            <a:ext cx="5620702" cy="314325"/>
          </a:xfrm>
          <a:prstGeom prst="rect">
            <a:avLst/>
          </a:prstGeom>
          <a:noFill/>
        </p:spPr>
        <p:txBody>
          <a:bodyPr wrap="square" lIns="161925" tIns="0" rIns="0" bIns="0" anchor="t">
            <a:spAutoFit/>
          </a:bodyPr>
          <a:lstStyle/>
          <a:p>
            <a:pPr algn="l"/>
            <a:r>
              <a:rPr sz="1650" b="0" i="0" u="none">
                <a:solidFill>
                  <a:srgbClr val="1E293B"/>
                </a:solidFill>
                <a:latin typeface="Poppins SemiBold"/>
              </a:rPr>
              <a:t>Invoices (Bills) Created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2376487"/>
            <a:ext cx="266700" cy="20955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9107431"/>
              </p:ext>
            </p:extLst>
          </p:nvPr>
        </p:nvGraphicFramePr>
        <p:xfrm>
          <a:off x="581025" y="2767013"/>
          <a:ext cx="4986057" cy="25315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2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919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47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6316"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FFFFFF"/>
                          </a:solidFill>
                          <a:latin typeface="Poppins SemiBold"/>
                        </a:rPr>
                        <a:t>Sales Representative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FFFFFF"/>
                          </a:solidFill>
                          <a:latin typeface="Poppins SemiBold"/>
                        </a:rPr>
                        <a:t>Meetings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 dirty="0">
                          <a:solidFill>
                            <a:srgbClr val="FFFFFF"/>
                          </a:solidFill>
                          <a:latin typeface="Poppins SemiBold"/>
                        </a:rPr>
                        <a:t>Activity Level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6316"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334155"/>
                          </a:solidFill>
                          <a:latin typeface="Lato"/>
                        </a:rPr>
                        <a:t>Abhinav Shivam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334155"/>
                          </a:solidFill>
                          <a:latin typeface="Lato"/>
                        </a:rPr>
                        <a:t>7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334155"/>
                          </a:solidFill>
                          <a:latin typeface="Lato"/>
                        </a:rPr>
                        <a:t>High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6316"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334155"/>
                          </a:solidFill>
                          <a:latin typeface="Lato"/>
                        </a:rPr>
                        <a:t>Vinay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334155"/>
                          </a:solidFill>
                          <a:latin typeface="Lato"/>
                        </a:rPr>
                        <a:t>5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 dirty="0">
                          <a:solidFill>
                            <a:srgbClr val="334155"/>
                          </a:solidFill>
                          <a:latin typeface="Lato"/>
                        </a:rPr>
                        <a:t>High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6316"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334155"/>
                          </a:solidFill>
                          <a:latin typeface="Lato"/>
                        </a:rPr>
                        <a:t>Animesh / Ketan / Shivani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334155"/>
                          </a:solidFill>
                          <a:latin typeface="Lato"/>
                        </a:rPr>
                        <a:t>4 each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334155"/>
                          </a:solidFill>
                          <a:latin typeface="Lato"/>
                        </a:rPr>
                        <a:t>Medium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6316"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334155"/>
                          </a:solidFill>
                          <a:latin typeface="Lato"/>
                        </a:rPr>
                        <a:t>Gilbert / Manish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334155"/>
                          </a:solidFill>
                          <a:latin typeface="Lato"/>
                        </a:rPr>
                        <a:t>3 each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 dirty="0">
                          <a:solidFill>
                            <a:srgbClr val="334155"/>
                          </a:solidFill>
                          <a:latin typeface="Lato"/>
                        </a:rPr>
                        <a:t>Medium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67450" y="2443162"/>
            <a:ext cx="161925" cy="209550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4059963"/>
              </p:ext>
            </p:extLst>
          </p:nvPr>
        </p:nvGraphicFramePr>
        <p:xfrm>
          <a:off x="6069272" y="2780265"/>
          <a:ext cx="5620703" cy="26574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513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052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35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1495">
                <a:tc>
                  <a:txBody>
                    <a:bodyPr/>
                    <a:lstStyle/>
                    <a:p>
                      <a:pPr algn="l"/>
                      <a:r>
                        <a:rPr sz="1200" b="0" i="0" u="none" dirty="0">
                          <a:solidFill>
                            <a:srgbClr val="FFFFFF"/>
                          </a:solidFill>
                          <a:latin typeface="Poppins SemiBold"/>
                        </a:rPr>
                        <a:t>Sales Rep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FFFFFF"/>
                          </a:solidFill>
                          <a:latin typeface="Poppins SemiBold"/>
                        </a:rPr>
                        <a:t>Bills Sent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FFFFFF"/>
                          </a:solidFill>
                          <a:latin typeface="Poppins SemiBold"/>
                        </a:rPr>
                        <a:t>Primary Focus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1495">
                <a:tc>
                  <a:txBody>
                    <a:bodyPr/>
                    <a:lstStyle/>
                    <a:p>
                      <a:pPr algn="l"/>
                      <a:r>
                        <a:rPr sz="1200" b="0" i="0" u="none" dirty="0">
                          <a:solidFill>
                            <a:srgbClr val="334155"/>
                          </a:solidFill>
                          <a:latin typeface="Lato"/>
                        </a:rPr>
                        <a:t>Divy...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334155"/>
                          </a:solidFill>
                          <a:latin typeface="Lato"/>
                        </a:rPr>
                        <a:t>58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334155"/>
                          </a:solidFill>
                          <a:latin typeface="Lato"/>
                        </a:rPr>
                        <a:t>Mostly Renewals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1495">
                <a:tc>
                  <a:txBody>
                    <a:bodyPr/>
                    <a:lstStyle/>
                    <a:p>
                      <a:pPr algn="l"/>
                      <a:r>
                        <a:rPr sz="1200" b="0" i="0" u="none" dirty="0">
                          <a:solidFill>
                            <a:srgbClr val="334155"/>
                          </a:solidFill>
                          <a:latin typeface="Lato"/>
                        </a:rPr>
                        <a:t>Vidi...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334155"/>
                          </a:solidFill>
                          <a:latin typeface="Lato"/>
                        </a:rPr>
                        <a:t>27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 dirty="0">
                          <a:solidFill>
                            <a:srgbClr val="334155"/>
                          </a:solidFill>
                          <a:latin typeface="Lato"/>
                        </a:rPr>
                        <a:t>Renewals &amp; New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1495"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334155"/>
                          </a:solidFill>
                          <a:latin typeface="Lato"/>
                        </a:rPr>
                        <a:t>Animesh / Vinay / Ankur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334155"/>
                          </a:solidFill>
                          <a:latin typeface="Lato"/>
                        </a:rPr>
                        <a:t>18 - 20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334155"/>
                          </a:solidFill>
                          <a:latin typeface="Lato"/>
                        </a:rPr>
                        <a:t>Mix of Deals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1495"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334155"/>
                          </a:solidFill>
                          <a:latin typeface="Lato"/>
                        </a:rPr>
                        <a:t>Abhinav / Shlok / Shobhit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>
                          <a:solidFill>
                            <a:srgbClr val="334155"/>
                          </a:solidFill>
                          <a:latin typeface="Lato"/>
                        </a:rPr>
                        <a:t>8 - 10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u="none" dirty="0">
                          <a:solidFill>
                            <a:srgbClr val="334155"/>
                          </a:solidFill>
                          <a:latin typeface="Lato"/>
                        </a:rPr>
                        <a:t>Early Stage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581025" y="3786187"/>
            <a:ext cx="2406253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987278" y="3786187"/>
            <a:ext cx="1275159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262437" y="3786187"/>
            <a:ext cx="1652587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81025" y="4324350"/>
            <a:ext cx="2406253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2987278" y="4324350"/>
            <a:ext cx="1275159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262437" y="4324350"/>
            <a:ext cx="1652587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81025" y="4862512"/>
            <a:ext cx="2406253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2987278" y="4862512"/>
            <a:ext cx="1275159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262437" y="4862512"/>
            <a:ext cx="1652587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276975" y="3819525"/>
            <a:ext cx="235833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635305" y="3819525"/>
            <a:ext cx="1234231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9869537" y="3819525"/>
            <a:ext cx="1741437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276975" y="4324350"/>
            <a:ext cx="235833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635305" y="4324350"/>
            <a:ext cx="1234231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9869537" y="4324350"/>
            <a:ext cx="1741437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276975" y="4829175"/>
            <a:ext cx="235833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8635305" y="4829175"/>
            <a:ext cx="1234231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9869537" y="4829175"/>
            <a:ext cx="1741437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71476" y="3376752"/>
            <a:ext cx="457200" cy="261937"/>
          </a:xfrm>
          <a:prstGeom prst="rect">
            <a:avLst/>
          </a:prstGeom>
        </p:spPr>
      </p:pic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96508" y="3936206"/>
            <a:ext cx="457200" cy="261937"/>
          </a:xfrm>
          <a:prstGeom prst="rect">
            <a:avLst/>
          </a:prstGeom>
        </p:spPr>
      </p:pic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071476" y="4416378"/>
            <a:ext cx="647700" cy="261937"/>
          </a:xfrm>
          <a:prstGeom prst="rect">
            <a:avLst/>
          </a:prstGeom>
        </p:spPr>
      </p:pic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71476" y="4995470"/>
            <a:ext cx="647700" cy="261937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571500" y="476250"/>
            <a:ext cx="11601450" cy="504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550" b="1" i="0" u="none">
                <a:solidFill>
                  <a:srgbClr val="0F172A"/>
                </a:solidFill>
                <a:latin typeface="Poppins"/>
              </a:rPr>
              <a:t>Sales Team Activity vs Billing Output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71500" y="1076325"/>
            <a:ext cx="11049000" cy="190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290762"/>
            <a:ext cx="3530649" cy="31623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0749" y="2290762"/>
            <a:ext cx="3530649" cy="31623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89999" y="2290762"/>
            <a:ext cx="3530649" cy="31623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725" y="2566987"/>
            <a:ext cx="514350" cy="5143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7725" y="3271837"/>
            <a:ext cx="3127109" cy="314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0" i="0" u="none">
                <a:solidFill>
                  <a:srgbClr val="991B1B"/>
                </a:solidFill>
                <a:latin typeface="Poppins SemiBold"/>
              </a:rPr>
              <a:t>1. Paperwork Bottlenecks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7725" y="3700462"/>
            <a:ext cx="2978199" cy="242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1" i="0" u="none">
                <a:solidFill>
                  <a:srgbClr val="DC2626"/>
                </a:solidFill>
                <a:latin typeface="Lato"/>
              </a:rPr>
              <a:t>Delayed Invoicing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7725" y="4019550"/>
            <a:ext cx="2978199" cy="7286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0" i="0" u="none">
                <a:solidFill>
                  <a:srgbClr val="475569"/>
                </a:solidFill>
                <a:latin typeface="Lato"/>
              </a:rPr>
              <a:t>We win agreements, but delay sending bills ($18.5M closed renewals vs. only $8.2M actually billed).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06974" y="2566987"/>
            <a:ext cx="514350" cy="51435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606974" y="3271837"/>
            <a:ext cx="3127109" cy="628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0" i="0" u="none">
                <a:solidFill>
                  <a:srgbClr val="854D0E"/>
                </a:solidFill>
                <a:latin typeface="Poppins SemiBold"/>
              </a:rPr>
              <a:t>2. Early Pipeline Stagnation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6974" y="4014787"/>
            <a:ext cx="2978199" cy="242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1" i="0" u="none">
                <a:solidFill>
                  <a:srgbClr val="D97706"/>
                </a:solidFill>
                <a:latin typeface="Lato"/>
              </a:rPr>
              <a:t>Stalled Discussions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06974" y="4333875"/>
            <a:ext cx="2978199" cy="7286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0" i="0" u="none">
                <a:solidFill>
                  <a:srgbClr val="475569"/>
                </a:solidFill>
                <a:latin typeface="Lato"/>
              </a:rPr>
              <a:t>$6.0M out of $7.0M in prospective sales sits unprogressed in Stage 1 without active rep follow-ups.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66224" y="2566987"/>
            <a:ext cx="514350" cy="5143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366224" y="3271837"/>
            <a:ext cx="3127109" cy="628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0" i="0" u="none">
                <a:solidFill>
                  <a:srgbClr val="3730A3"/>
                </a:solidFill>
                <a:latin typeface="Poppins SemiBold"/>
              </a:rPr>
              <a:t>3. Disproportionate Workload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224" y="4014787"/>
            <a:ext cx="2978199" cy="242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1" i="0" u="none">
                <a:solidFill>
                  <a:srgbClr val="4F46E5"/>
                </a:solidFill>
                <a:latin typeface="Lato"/>
              </a:rPr>
              <a:t>Uneven Rep Output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224" y="4333875"/>
            <a:ext cx="2978199" cy="7286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0" i="0" u="none">
                <a:solidFill>
                  <a:srgbClr val="475569"/>
                </a:solidFill>
                <a:latin typeface="Lato"/>
              </a:rPr>
              <a:t>Divy generated 58 bills single-handedly, while 5 other sales reps combined created under 10 bills.</a:t>
            </a:r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9175" y="2709862"/>
            <a:ext cx="171450" cy="228600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64137" y="2709862"/>
            <a:ext cx="200025" cy="228600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80524" y="2709862"/>
            <a:ext cx="285750" cy="2286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71500" y="476250"/>
            <a:ext cx="11601450" cy="504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550" b="1" i="0" u="none">
                <a:solidFill>
                  <a:srgbClr val="0F172A"/>
                </a:solidFill>
                <a:latin typeface="Poppins"/>
              </a:rPr>
              <a:t>The 3 Main Operational Challenges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71500" y="1076325"/>
            <a:ext cx="11049000" cy="190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625" y="3007518"/>
            <a:ext cx="457200" cy="4572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45544" y="3007518"/>
            <a:ext cx="457200" cy="4572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81464" y="3007518"/>
            <a:ext cx="457200" cy="4572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17384" y="3007518"/>
            <a:ext cx="457200" cy="4572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1500" y="2769393"/>
            <a:ext cx="2541240" cy="2586037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07419" y="2769393"/>
            <a:ext cx="2541240" cy="2586037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35184" y="2818247"/>
            <a:ext cx="2541240" cy="2586037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079259" y="2769393"/>
            <a:ext cx="2541240" cy="2586037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1123950" y="4043362"/>
            <a:ext cx="9944100" cy="381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58000" y="3546909"/>
            <a:ext cx="2168239" cy="628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0" i="0" u="none" dirty="0">
                <a:solidFill>
                  <a:srgbClr val="1E293B"/>
                </a:solidFill>
                <a:latin typeface="Poppins SemiBold"/>
              </a:rPr>
              <a:t>Immediate Billing Rule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6377" y="4111266"/>
            <a:ext cx="2064990" cy="6429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 dirty="0">
                <a:solidFill>
                  <a:srgbClr val="475569"/>
                </a:solidFill>
                <a:latin typeface="Lato"/>
              </a:rPr>
              <a:t>Mandate instant billing upon deal agreement to capture the $18.5M in unbilled renewals.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45544" y="3617118"/>
            <a:ext cx="2168239" cy="314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0" i="0" u="none">
                <a:solidFill>
                  <a:srgbClr val="1E293B"/>
                </a:solidFill>
                <a:latin typeface="Poppins SemiBold"/>
              </a:rPr>
              <a:t>Pipeline Sprint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37389" y="4175559"/>
            <a:ext cx="2064990" cy="6429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 dirty="0">
                <a:solidFill>
                  <a:srgbClr val="475569"/>
                </a:solidFill>
                <a:latin typeface="Lato"/>
              </a:rPr>
              <a:t>Hold weekly reviews to unstick $6M in Stage 1 deals and accelerate follow-ups.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1464" y="3617118"/>
            <a:ext cx="2168239" cy="314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0" i="0" u="none">
                <a:solidFill>
                  <a:srgbClr val="1E293B"/>
                </a:solidFill>
                <a:latin typeface="Poppins SemiBold"/>
              </a:rPr>
              <a:t>Executive Closing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2768" y="4113263"/>
            <a:ext cx="2064990" cy="6429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 dirty="0">
                <a:solidFill>
                  <a:srgbClr val="475569"/>
                </a:solidFill>
                <a:latin typeface="Lato"/>
              </a:rPr>
              <a:t>Engage senior leadership to co-pitch and close the top 4 enterprise accounts ($1.65M).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17384" y="3617118"/>
            <a:ext cx="2168239" cy="628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0" i="0" u="none">
                <a:solidFill>
                  <a:srgbClr val="1E293B"/>
                </a:solidFill>
                <a:latin typeface="Poppins SemiBold"/>
              </a:rPr>
              <a:t>Incentive Alignment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65202" y="4106118"/>
            <a:ext cx="2064990" cy="6429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 dirty="0">
                <a:solidFill>
                  <a:srgbClr val="475569"/>
                </a:solidFill>
                <a:latin typeface="Lato"/>
              </a:rPr>
              <a:t>Align commissions to encourage cross-selling and set minimum 5 client meetings/week.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1500" y="476250"/>
            <a:ext cx="11601450" cy="504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550" b="1" i="0" u="none">
                <a:solidFill>
                  <a:srgbClr val="0F172A"/>
                </a:solidFill>
                <a:latin typeface="Poppins"/>
              </a:rPr>
              <a:t>Strategic Action Plan &amp; Milestones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71500" y="1076325"/>
            <a:ext cx="11049000" cy="190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1902E38-527F-02CB-C4C7-1B97CB778010}"/>
              </a:ext>
            </a:extLst>
          </p:cNvPr>
          <p:cNvSpPr txBox="1"/>
          <p:nvPr/>
        </p:nvSpPr>
        <p:spPr>
          <a:xfrm>
            <a:off x="1484671" y="1468153"/>
            <a:ext cx="9222658" cy="64633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IN" sz="3600" b="1" i="0" u="none" dirty="0">
                <a:solidFill>
                  <a:srgbClr val="FFC000"/>
                </a:solidFill>
                <a:latin typeface="Poppins"/>
              </a:rPr>
              <a:t>Unlocking Over $15 Million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056F21D-C4CC-0CD2-F738-162162C82BFC}"/>
              </a:ext>
            </a:extLst>
          </p:cNvPr>
          <p:cNvSpPr/>
          <p:nvPr/>
        </p:nvSpPr>
        <p:spPr>
          <a:xfrm>
            <a:off x="487926" y="2661761"/>
            <a:ext cx="11049000" cy="190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685CE81-3122-CA84-E512-E807CBBCA9FC}"/>
              </a:ext>
            </a:extLst>
          </p:cNvPr>
          <p:cNvSpPr/>
          <p:nvPr/>
        </p:nvSpPr>
        <p:spPr>
          <a:xfrm>
            <a:off x="487926" y="984634"/>
            <a:ext cx="11049000" cy="190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0CF7BA5-3AFD-4B25-8CE6-A4B653E99170}"/>
              </a:ext>
            </a:extLst>
          </p:cNvPr>
          <p:cNvSpPr txBox="1"/>
          <p:nvPr/>
        </p:nvSpPr>
        <p:spPr>
          <a:xfrm>
            <a:off x="898423" y="3429000"/>
            <a:ext cx="10638503" cy="10386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75"/>
              </a:lnSpc>
            </a:pPr>
            <a:r>
              <a:rPr lang="en-US" b="1" i="0" u="none" dirty="0">
                <a:latin typeface="Poppins" panose="00000500000000000000" pitchFamily="2" charset="0"/>
                <a:cs typeface="Poppins" panose="00000500000000000000" pitchFamily="2" charset="0"/>
              </a:rPr>
              <a:t>By streamlining our invoicing process for closed deals and aggressively supporting our sales team to advance early-stage opportunities, we can capture over $15M in immediate cash reserves.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7BE134E-2EBD-0CE3-C4C2-F2DCE0E6D5B8}"/>
              </a:ext>
            </a:extLst>
          </p:cNvPr>
          <p:cNvSpPr txBox="1"/>
          <p:nvPr/>
        </p:nvSpPr>
        <p:spPr>
          <a:xfrm>
            <a:off x="1401097" y="123160"/>
            <a:ext cx="9222658" cy="73866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IN" sz="4200" b="1" i="0" u="none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latin typeface="Poppins"/>
              </a:rPr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36545281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264B1E-8B35-6167-95B2-C40CB6039B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>
            <a:extLst>
              <a:ext uri="{FF2B5EF4-FFF2-40B4-BE49-F238E27FC236}">
                <a16:creationId xmlns:a16="http://schemas.microsoft.com/office/drawing/2014/main" id="{79552A53-73EE-80A0-306F-F1A0BE0C96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>
            <a:extLst>
              <a:ext uri="{FF2B5EF4-FFF2-40B4-BE49-F238E27FC236}">
                <a16:creationId xmlns:a16="http://schemas.microsoft.com/office/drawing/2014/main" id="{C4821041-B7D6-2C46-DF3B-6324F376EC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2875" y="4481512"/>
            <a:ext cx="4286250" cy="685800"/>
          </a:xfrm>
          <a:prstGeom prst="rect">
            <a:avLst/>
          </a:prstGeom>
        </p:spPr>
      </p:pic>
      <p:pic>
        <p:nvPicPr>
          <p:cNvPr id="4" name="Picture 3" descr="image.png">
            <a:extLst>
              <a:ext uri="{FF2B5EF4-FFF2-40B4-BE49-F238E27FC236}">
                <a16:creationId xmlns:a16="http://schemas.microsoft.com/office/drawing/2014/main" id="{874A65E9-F67E-6235-6083-BEDEA47E48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3" name="Title 23">
            <a:extLst>
              <a:ext uri="{FF2B5EF4-FFF2-40B4-BE49-F238E27FC236}">
                <a16:creationId xmlns:a16="http://schemas.microsoft.com/office/drawing/2014/main" id="{4E7C6B2E-B674-5C48-6F0E-74FBA277C37A}"/>
              </a:ext>
            </a:extLst>
          </p:cNvPr>
          <p:cNvSpPr txBox="1">
            <a:spLocks/>
          </p:cNvSpPr>
          <p:nvPr/>
        </p:nvSpPr>
        <p:spPr>
          <a:xfrm>
            <a:off x="1769114" y="1109355"/>
            <a:ext cx="8898885" cy="2534265"/>
          </a:xfrm>
          <a:prstGeom prst="rect">
            <a:avLst/>
          </a:prstGeom>
        </p:spPr>
        <p:txBody>
          <a:bodyPr/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glow rad="63500">
                    <a:schemeClr val="accent1">
                      <a:satMod val="175000"/>
                      <a:alpha val="40000"/>
                    </a:schemeClr>
                  </a:glow>
                  <a:outerShdw dist="38100" dir="2700000" algn="bl" rotWithShape="0">
                    <a:schemeClr val="accent5"/>
                  </a:outerShdw>
                </a:effectLst>
                <a:latin typeface="Poppins" panose="00000500000000000000" pitchFamily="2" charset="0"/>
                <a:cs typeface="Poppins" panose="00000500000000000000" pitchFamily="2" charset="0"/>
              </a:rPr>
              <a:t>Thank You</a:t>
            </a:r>
            <a:br>
              <a:rPr lang="en-US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glow rad="63500">
                    <a:schemeClr val="accent1">
                      <a:satMod val="175000"/>
                      <a:alpha val="40000"/>
                    </a:schemeClr>
                  </a:glow>
                  <a:outerShdw dist="38100" dir="2700000" algn="bl" rotWithShape="0">
                    <a:schemeClr val="accent5"/>
                  </a:outerShdw>
                </a:effectLst>
                <a:latin typeface="Poppins" panose="00000500000000000000" pitchFamily="2" charset="0"/>
                <a:cs typeface="Poppins" panose="00000500000000000000" pitchFamily="2" charset="0"/>
              </a:rPr>
            </a:br>
            <a:r>
              <a:rPr lang="en-US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glow rad="63500">
                    <a:schemeClr val="accent1">
                      <a:satMod val="175000"/>
                      <a:alpha val="40000"/>
                    </a:schemeClr>
                  </a:glow>
                  <a:outerShdw dist="38100" dir="2700000" algn="bl" rotWithShape="0">
                    <a:schemeClr val="accent5"/>
                  </a:outerShdw>
                </a:effectLst>
                <a:latin typeface="Poppins" panose="00000500000000000000" pitchFamily="2" charset="0"/>
                <a:cs typeface="Poppins" panose="00000500000000000000" pitchFamily="2" charset="0"/>
              </a:rPr>
              <a:t>We appreciate your time and attention.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659B151-70E9-6F13-5265-DFE20DB7B830}"/>
              </a:ext>
            </a:extLst>
          </p:cNvPr>
          <p:cNvSpPr txBox="1"/>
          <p:nvPr/>
        </p:nvSpPr>
        <p:spPr>
          <a:xfrm>
            <a:off x="1582994" y="3755923"/>
            <a:ext cx="925034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2800" b="1" dirty="0">
              <a:ln w="6600">
                <a:solidFill>
                  <a:schemeClr val="accent2"/>
                </a:solidFill>
                <a:prstDash val="solid"/>
              </a:ln>
              <a:solidFill>
                <a:srgbClr val="FFFFFF"/>
              </a:solidFill>
              <a:effectLst>
                <a:outerShdw dist="38100" dir="2700000" algn="tl" rotWithShape="0">
                  <a:schemeClr val="accent2"/>
                </a:outerShdw>
              </a:effectLst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1227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294</TotalTime>
  <Words>948</Words>
  <Application>Microsoft Office PowerPoint</Application>
  <PresentationFormat>Widescreen</PresentationFormat>
  <Paragraphs>159</Paragraphs>
  <Slides>13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0" baseType="lpstr">
      <vt:lpstr>Aptos</vt:lpstr>
      <vt:lpstr>Arial</vt:lpstr>
      <vt:lpstr>Calibri</vt:lpstr>
      <vt:lpstr>Lato</vt:lpstr>
      <vt:lpstr>Poppins</vt:lpstr>
      <vt:lpstr>Poppins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Devi</dc:creator>
  <cp:keywords/>
  <dc:description>generated using python-pptx</dc:description>
  <cp:lastModifiedBy>Er Utkarsh Vashistha</cp:lastModifiedBy>
  <cp:revision>4</cp:revision>
  <dcterms:created xsi:type="dcterms:W3CDTF">2013-01-27T09:14:16Z</dcterms:created>
  <dcterms:modified xsi:type="dcterms:W3CDTF">2026-10-01T10:34:37Z</dcterms:modified>
  <cp:category/>
</cp:coreProperties>
</file>